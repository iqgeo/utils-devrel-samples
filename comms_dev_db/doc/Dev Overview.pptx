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4" r:id="rId5"/>
    <p:sldId id="299" r:id="rId6"/>
    <p:sldId id="309" r:id="rId7"/>
    <p:sldId id="310" r:id="rId8"/>
    <p:sldId id="304" r:id="rId9"/>
    <p:sldId id="305" r:id="rId10"/>
    <p:sldId id="308" r:id="rId11"/>
    <p:sldId id="311" r:id="rId12"/>
    <p:sldId id="301" r:id="rId13"/>
    <p:sldId id="306" r:id="rId14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AA0"/>
    <a:srgbClr val="1B9B15"/>
    <a:srgbClr val="FFFFCC"/>
    <a:srgbClr val="FBC69B"/>
    <a:srgbClr val="7EB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3" autoAdjust="0"/>
    <p:restoredTop sz="96344" autoAdjust="0"/>
  </p:normalViewPr>
  <p:slideViewPr>
    <p:cSldViewPr>
      <p:cViewPr varScale="1">
        <p:scale>
          <a:sx n="101" d="100"/>
          <a:sy n="101" d="100"/>
        </p:scale>
        <p:origin x="5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2934" y="-96"/>
      </p:cViewPr>
      <p:guideLst>
        <p:guide orient="horz" pos="2909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23580-9F3C-4B95-806F-E14D59FC522D}" type="datetimeFigureOut">
              <a:rPr lang="en-GB" smtClean="0"/>
              <a:pPr/>
              <a:t>09/03/2021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772525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68369-9550-4B28-A146-08E43D95FF8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519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62D815A7-4316-49C3-813A-8642C30C7156}" type="datetimeFigureOut">
              <a:rPr lang="en-GB" smtClean="0"/>
              <a:pPr/>
              <a:t>09/03/2021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DBD4D6EA-1129-4855-9F92-94AC0A7B89E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319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1</a:t>
            </a:fld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057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4999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52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6101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5144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068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79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877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4D6EA-1129-4855-9F92-94AC0A7B89E4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81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812C-C333-4283-9F2B-5DA8DFE72F94}" type="datetimeFigureOut">
              <a:rPr lang="en-GB" smtClean="0"/>
              <a:pPr/>
              <a:t>09/03/2021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151F-80C9-487D-B401-C245913DFB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127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0040" y="2492896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812C-C333-4283-9F2B-5DA8DFE72F94}" type="datetimeFigureOut">
              <a:rPr lang="en-GB" smtClean="0"/>
              <a:pPr/>
              <a:t>09/03/2021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827112" cy="365125"/>
          </a:xfrm>
        </p:spPr>
        <p:txBody>
          <a:bodyPr/>
          <a:lstStyle/>
          <a:p>
            <a:fld id="{AC27151F-80C9-487D-B401-C245913DFBB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Grafik 4" descr="Full_logo_300_correctFrame.gi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091682" y="5851070"/>
            <a:ext cx="342547" cy="140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127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84576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 marL="914400" indent="0">
              <a:buNone/>
              <a:defRPr sz="1600">
                <a:solidFill>
                  <a:schemeClr val="tx1"/>
                </a:solidFill>
              </a:defRPr>
            </a:lvl3pPr>
            <a:lvl4pPr marL="720000" indent="0">
              <a:buNone/>
              <a:defRPr sz="1600" b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812C-C333-4283-9F2B-5DA8DFE72F94}" type="datetimeFigureOut">
              <a:rPr lang="en-GB" smtClean="0"/>
              <a:pPr/>
              <a:t>09/03/2021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81328"/>
            <a:ext cx="683096" cy="340147"/>
          </a:xfrm>
        </p:spPr>
        <p:txBody>
          <a:bodyPr/>
          <a:lstStyle/>
          <a:p>
            <a:fld id="{AC27151F-80C9-487D-B401-C245913DFB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01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9812C-C333-4283-9F2B-5DA8DFE72F94}" type="datetimeFigureOut">
              <a:rPr lang="en-GB" smtClean="0"/>
              <a:pPr/>
              <a:t>09/03/2021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7151F-80C9-487D-B401-C245913DFB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25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83568" y="1772816"/>
            <a:ext cx="8064896" cy="28803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Network Manager - Comms </a:t>
            </a:r>
          </a:p>
          <a:p>
            <a:r>
              <a:rPr lang="en-GB" sz="4000" dirty="0">
                <a:solidFill>
                  <a:schemeClr val="tx1"/>
                </a:solidFill>
              </a:rPr>
              <a:t>Dev Overview</a:t>
            </a:r>
          </a:p>
          <a:p>
            <a:endParaRPr lang="en-GB" sz="2000" dirty="0">
              <a:solidFill>
                <a:schemeClr val="tx1"/>
              </a:solidFill>
            </a:endParaRPr>
          </a:p>
          <a:p>
            <a:r>
              <a:rPr lang="en-GB" sz="2400">
                <a:solidFill>
                  <a:schemeClr val="tx1"/>
                </a:solidFill>
              </a:rPr>
              <a:t>27 Dec 2020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4" name="Subtitle 4"/>
          <p:cNvSpPr txBox="1">
            <a:spLocks/>
          </p:cNvSpPr>
          <p:nvPr/>
        </p:nvSpPr>
        <p:spPr>
          <a:xfrm>
            <a:off x="611560" y="5661248"/>
            <a:ext cx="8136904" cy="45645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Company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Confidential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454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GB"/>
              <a:t>. Containment Model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1259632" y="4043610"/>
            <a:ext cx="5256584" cy="360040"/>
            <a:chOff x="1259632" y="4869160"/>
            <a:chExt cx="5256584" cy="360040"/>
          </a:xfrm>
        </p:grpSpPr>
        <p:sp>
          <p:nvSpPr>
            <p:cNvPr id="5" name="Rectangle 4"/>
            <p:cNvSpPr/>
            <p:nvPr/>
          </p:nvSpPr>
          <p:spPr>
            <a:xfrm>
              <a:off x="1259632" y="4869160"/>
              <a:ext cx="360040" cy="334326"/>
            </a:xfrm>
            <a:prstGeom prst="rect">
              <a:avLst/>
            </a:prstGeom>
            <a:solidFill>
              <a:schemeClr val="accent6">
                <a:lumMod val="50000"/>
                <a:alpha val="4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851920" y="4894874"/>
              <a:ext cx="360040" cy="334326"/>
            </a:xfrm>
            <a:prstGeom prst="rect">
              <a:avLst/>
            </a:prstGeom>
            <a:solidFill>
              <a:schemeClr val="accent6">
                <a:lumMod val="50000"/>
                <a:alpha val="4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156176" y="4894874"/>
              <a:ext cx="360040" cy="334326"/>
            </a:xfrm>
            <a:prstGeom prst="rect">
              <a:avLst/>
            </a:prstGeom>
            <a:solidFill>
              <a:schemeClr val="accent6">
                <a:lumMod val="50000"/>
                <a:alpha val="4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Rectangle 9"/>
          <p:cNvSpPr/>
          <p:nvPr/>
        </p:nvSpPr>
        <p:spPr>
          <a:xfrm>
            <a:off x="7020272" y="4030090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Structure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691680" y="3395538"/>
            <a:ext cx="4413076" cy="0"/>
            <a:chOff x="1691680" y="4221088"/>
            <a:chExt cx="4413076" cy="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691680" y="4221088"/>
              <a:ext cx="2057400" cy="0"/>
            </a:xfrm>
            <a:prstGeom prst="line">
              <a:avLst/>
            </a:prstGeom>
            <a:ln w="41275">
              <a:solidFill>
                <a:schemeClr val="accent6">
                  <a:lumMod val="50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355976" y="4221088"/>
              <a:ext cx="1748780" cy="0"/>
            </a:xfrm>
            <a:prstGeom prst="line">
              <a:avLst/>
            </a:prstGeom>
            <a:ln w="41275">
              <a:solidFill>
                <a:schemeClr val="accent6">
                  <a:lumMod val="50000"/>
                </a:schemeClr>
              </a:solidFill>
              <a:headEnd type="triangl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6988224" y="3143510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Route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557509" y="3539554"/>
            <a:ext cx="4650087" cy="444515"/>
            <a:chOff x="1557509" y="4365104"/>
            <a:chExt cx="4650087" cy="44451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3749080" y="4365104"/>
              <a:ext cx="102840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6104756" y="4377571"/>
              <a:ext cx="102840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1557509" y="4377571"/>
              <a:ext cx="62163" cy="3946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H="1">
              <a:off x="4180879" y="4365104"/>
              <a:ext cx="175097" cy="4258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6985416" y="2228329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Cable Segment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2723646" y="1901370"/>
            <a:ext cx="2423120" cy="414048"/>
            <a:chOff x="2723646" y="2726920"/>
            <a:chExt cx="2423120" cy="414048"/>
          </a:xfrm>
        </p:grpSpPr>
        <p:cxnSp>
          <p:nvCxnSpPr>
            <p:cNvPr id="40" name="Straight Arrow Connector 39"/>
            <p:cNvCxnSpPr/>
            <p:nvPr/>
          </p:nvCxnSpPr>
          <p:spPr>
            <a:xfrm flipV="1">
              <a:off x="5146766" y="2757463"/>
              <a:ext cx="0" cy="383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2723646" y="2726920"/>
              <a:ext cx="0" cy="383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/>
          <p:cNvCxnSpPr/>
          <p:nvPr/>
        </p:nvCxnSpPr>
        <p:spPr>
          <a:xfrm>
            <a:off x="1683514" y="1682427"/>
            <a:ext cx="4472662" cy="0"/>
          </a:xfrm>
          <a:prstGeom prst="line">
            <a:avLst/>
          </a:prstGeom>
          <a:ln w="41275">
            <a:solidFill>
              <a:srgbClr val="A02AA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005677" y="1340768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Cable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1427599" y="2686881"/>
            <a:ext cx="4873109" cy="1278502"/>
            <a:chOff x="1427599" y="3512431"/>
            <a:chExt cx="4873109" cy="1278502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2720380" y="3573016"/>
              <a:ext cx="0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5148064" y="3573016"/>
              <a:ext cx="0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reeform 42"/>
            <p:cNvSpPr/>
            <p:nvPr/>
          </p:nvSpPr>
          <p:spPr>
            <a:xfrm>
              <a:off x="4127899" y="3537012"/>
              <a:ext cx="228077" cy="1253921"/>
            </a:xfrm>
            <a:custGeom>
              <a:avLst/>
              <a:gdLst>
                <a:gd name="connsiteX0" fmla="*/ 247698 w 247698"/>
                <a:gd name="connsiteY0" fmla="*/ 0 h 1257300"/>
                <a:gd name="connsiteX1" fmla="*/ 36682 w 247698"/>
                <a:gd name="connsiteY1" fmla="*/ 703385 h 1257300"/>
                <a:gd name="connsiteX2" fmla="*/ 1513 w 247698"/>
                <a:gd name="connsiteY2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98" h="1257300">
                  <a:moveTo>
                    <a:pt x="247698" y="0"/>
                  </a:moveTo>
                  <a:cubicBezTo>
                    <a:pt x="162705" y="246917"/>
                    <a:pt x="77713" y="493835"/>
                    <a:pt x="36682" y="703385"/>
                  </a:cubicBezTo>
                  <a:cubicBezTo>
                    <a:pt x="-4349" y="912935"/>
                    <a:pt x="-1418" y="1085117"/>
                    <a:pt x="1513" y="1257300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427599" y="3512431"/>
              <a:ext cx="228077" cy="1253921"/>
            </a:xfrm>
            <a:custGeom>
              <a:avLst/>
              <a:gdLst>
                <a:gd name="connsiteX0" fmla="*/ 247698 w 247698"/>
                <a:gd name="connsiteY0" fmla="*/ 0 h 1257300"/>
                <a:gd name="connsiteX1" fmla="*/ 36682 w 247698"/>
                <a:gd name="connsiteY1" fmla="*/ 703385 h 1257300"/>
                <a:gd name="connsiteX2" fmla="*/ 1513 w 247698"/>
                <a:gd name="connsiteY2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98" h="1257300">
                  <a:moveTo>
                    <a:pt x="247698" y="0"/>
                  </a:moveTo>
                  <a:cubicBezTo>
                    <a:pt x="162705" y="246917"/>
                    <a:pt x="77713" y="493835"/>
                    <a:pt x="36682" y="703385"/>
                  </a:cubicBezTo>
                  <a:cubicBezTo>
                    <a:pt x="-4349" y="912935"/>
                    <a:pt x="-1418" y="1085117"/>
                    <a:pt x="1513" y="1257300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Freeform 47"/>
            <p:cNvSpPr/>
            <p:nvPr/>
          </p:nvSpPr>
          <p:spPr>
            <a:xfrm flipH="1">
              <a:off x="6132741" y="3532318"/>
              <a:ext cx="167967" cy="1253921"/>
            </a:xfrm>
            <a:custGeom>
              <a:avLst/>
              <a:gdLst>
                <a:gd name="connsiteX0" fmla="*/ 247698 w 247698"/>
                <a:gd name="connsiteY0" fmla="*/ 0 h 1257300"/>
                <a:gd name="connsiteX1" fmla="*/ 36682 w 247698"/>
                <a:gd name="connsiteY1" fmla="*/ 703385 h 1257300"/>
                <a:gd name="connsiteX2" fmla="*/ 1513 w 247698"/>
                <a:gd name="connsiteY2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98" h="1257300">
                  <a:moveTo>
                    <a:pt x="247698" y="0"/>
                  </a:moveTo>
                  <a:cubicBezTo>
                    <a:pt x="162705" y="246917"/>
                    <a:pt x="77713" y="493835"/>
                    <a:pt x="36682" y="703385"/>
                  </a:cubicBezTo>
                  <a:cubicBezTo>
                    <a:pt x="-4349" y="912935"/>
                    <a:pt x="-1418" y="1085117"/>
                    <a:pt x="1513" y="1257300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Freeform 48"/>
            <p:cNvSpPr/>
            <p:nvPr/>
          </p:nvSpPr>
          <p:spPr>
            <a:xfrm flipH="1">
              <a:off x="3732684" y="3532318"/>
              <a:ext cx="167967" cy="1253921"/>
            </a:xfrm>
            <a:custGeom>
              <a:avLst/>
              <a:gdLst>
                <a:gd name="connsiteX0" fmla="*/ 247698 w 247698"/>
                <a:gd name="connsiteY0" fmla="*/ 0 h 1257300"/>
                <a:gd name="connsiteX1" fmla="*/ 36682 w 247698"/>
                <a:gd name="connsiteY1" fmla="*/ 703385 h 1257300"/>
                <a:gd name="connsiteX2" fmla="*/ 1513 w 247698"/>
                <a:gd name="connsiteY2" fmla="*/ 1257300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98" h="1257300">
                  <a:moveTo>
                    <a:pt x="247698" y="0"/>
                  </a:moveTo>
                  <a:cubicBezTo>
                    <a:pt x="162705" y="246917"/>
                    <a:pt x="77713" y="493835"/>
                    <a:pt x="36682" y="703385"/>
                  </a:cubicBezTo>
                  <a:cubicBezTo>
                    <a:pt x="-4349" y="912935"/>
                    <a:pt x="-1418" y="1085117"/>
                    <a:pt x="1513" y="1257300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691680" y="2368719"/>
            <a:ext cx="4464496" cy="323696"/>
            <a:chOff x="1691680" y="3194269"/>
            <a:chExt cx="4464496" cy="323696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1691680" y="3356992"/>
              <a:ext cx="2057400" cy="0"/>
            </a:xfrm>
            <a:prstGeom prst="line">
              <a:avLst/>
            </a:prstGeom>
            <a:ln w="41275">
              <a:solidFill>
                <a:srgbClr val="A02AA0"/>
              </a:solidFill>
              <a:prstDash val="sysDash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355976" y="3356992"/>
              <a:ext cx="1800200" cy="2932"/>
            </a:xfrm>
            <a:prstGeom prst="line">
              <a:avLst/>
            </a:prstGeom>
            <a:ln w="41275">
              <a:solidFill>
                <a:srgbClr val="A02AA0"/>
              </a:solidFill>
              <a:prstDash val="sysDash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Freeform 2"/>
            <p:cNvSpPr/>
            <p:nvPr/>
          </p:nvSpPr>
          <p:spPr>
            <a:xfrm>
              <a:off x="3808772" y="3194269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Freeform 37"/>
            <p:cNvSpPr/>
            <p:nvPr/>
          </p:nvSpPr>
          <p:spPr>
            <a:xfrm rot="10991619">
              <a:off x="3791406" y="3429188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7045267" y="4905083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Equipment</a:t>
            </a:r>
          </a:p>
        </p:txBody>
      </p:sp>
      <p:sp>
        <p:nvSpPr>
          <p:cNvPr id="15" name="Oval 14"/>
          <p:cNvSpPr/>
          <p:nvPr/>
        </p:nvSpPr>
        <p:spPr>
          <a:xfrm>
            <a:off x="1330657" y="5013176"/>
            <a:ext cx="216024" cy="216024"/>
          </a:xfrm>
          <a:prstGeom prst="ellipse">
            <a:avLst/>
          </a:prstGeom>
          <a:solidFill>
            <a:srgbClr val="FBC69B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6228184" y="5013176"/>
            <a:ext cx="216024" cy="216024"/>
          </a:xfrm>
          <a:prstGeom prst="ellipse">
            <a:avLst/>
          </a:prstGeom>
          <a:solidFill>
            <a:srgbClr val="FBC69B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/>
          <p:cNvSpPr/>
          <p:nvPr/>
        </p:nvSpPr>
        <p:spPr>
          <a:xfrm>
            <a:off x="1602647" y="5698988"/>
            <a:ext cx="216024" cy="216024"/>
          </a:xfrm>
          <a:prstGeom prst="ellipse">
            <a:avLst/>
          </a:prstGeom>
          <a:solidFill>
            <a:srgbClr val="FBC69B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1438669" y="4534147"/>
            <a:ext cx="0" cy="37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6346544" y="4534146"/>
            <a:ext cx="0" cy="37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30775" y="5698988"/>
            <a:ext cx="216024" cy="216024"/>
          </a:xfrm>
          <a:prstGeom prst="ellipse">
            <a:avLst/>
          </a:prstGeom>
          <a:solidFill>
            <a:srgbClr val="FBC69B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 23"/>
          <p:cNvSpPr/>
          <p:nvPr/>
        </p:nvSpPr>
        <p:spPr>
          <a:xfrm>
            <a:off x="1138787" y="5260272"/>
            <a:ext cx="187577" cy="346229"/>
          </a:xfrm>
          <a:custGeom>
            <a:avLst/>
            <a:gdLst>
              <a:gd name="connsiteX0" fmla="*/ 1146 w 187577"/>
              <a:gd name="connsiteY0" fmla="*/ 346229 h 346229"/>
              <a:gd name="connsiteX1" fmla="*/ 27779 w 187577"/>
              <a:gd name="connsiteY1" fmla="*/ 133165 h 346229"/>
              <a:gd name="connsiteX2" fmla="*/ 187577 w 187577"/>
              <a:gd name="connsiteY2" fmla="*/ 0 h 346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577" h="346229">
                <a:moveTo>
                  <a:pt x="1146" y="346229"/>
                </a:moveTo>
                <a:cubicBezTo>
                  <a:pt x="-1074" y="268549"/>
                  <a:pt x="-3293" y="190870"/>
                  <a:pt x="27779" y="133165"/>
                </a:cubicBezTo>
                <a:cubicBezTo>
                  <a:pt x="58851" y="75460"/>
                  <a:pt x="123214" y="37730"/>
                  <a:pt x="187577" y="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Freeform 66"/>
          <p:cNvSpPr/>
          <p:nvPr/>
        </p:nvSpPr>
        <p:spPr>
          <a:xfrm flipH="1">
            <a:off x="1544582" y="5267751"/>
            <a:ext cx="173732" cy="346229"/>
          </a:xfrm>
          <a:custGeom>
            <a:avLst/>
            <a:gdLst>
              <a:gd name="connsiteX0" fmla="*/ 1146 w 187577"/>
              <a:gd name="connsiteY0" fmla="*/ 346229 h 346229"/>
              <a:gd name="connsiteX1" fmla="*/ 27779 w 187577"/>
              <a:gd name="connsiteY1" fmla="*/ 133165 h 346229"/>
              <a:gd name="connsiteX2" fmla="*/ 187577 w 187577"/>
              <a:gd name="connsiteY2" fmla="*/ 0 h 346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577" h="346229">
                <a:moveTo>
                  <a:pt x="1146" y="346229"/>
                </a:moveTo>
                <a:cubicBezTo>
                  <a:pt x="-1074" y="268549"/>
                  <a:pt x="-3293" y="190870"/>
                  <a:pt x="27779" y="133165"/>
                </a:cubicBezTo>
                <a:cubicBezTo>
                  <a:pt x="58851" y="75460"/>
                  <a:pt x="123214" y="37730"/>
                  <a:pt x="187577" y="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F8809B3-9E3F-4CFF-B696-286052F16B42}"/>
              </a:ext>
            </a:extLst>
          </p:cNvPr>
          <p:cNvGrpSpPr/>
          <p:nvPr/>
        </p:nvGrpSpPr>
        <p:grpSpPr>
          <a:xfrm>
            <a:off x="4210533" y="6237312"/>
            <a:ext cx="1045543" cy="263942"/>
            <a:chOff x="2924323" y="5973370"/>
            <a:chExt cx="1045543" cy="26394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1A10A2D-A887-442A-846F-F14B122A119C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C7F209A-4376-4FAB-A3CE-BD63FB70F354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stored reference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5BBA588C-3490-4C8C-B72F-9112FE2A9AEB}"/>
              </a:ext>
            </a:extLst>
          </p:cNvPr>
          <p:cNvSpPr/>
          <p:nvPr/>
        </p:nvSpPr>
        <p:spPr>
          <a:xfrm>
            <a:off x="6300708" y="4641140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72B543C-A562-45E6-8CC8-514797C1E9E0}"/>
              </a:ext>
            </a:extLst>
          </p:cNvPr>
          <p:cNvSpPr/>
          <p:nvPr/>
        </p:nvSpPr>
        <p:spPr>
          <a:xfrm>
            <a:off x="1438669" y="4629572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52AADA7-2AFD-4E6C-A20C-A21F143E3919}"/>
              </a:ext>
            </a:extLst>
          </p:cNvPr>
          <p:cNvSpPr/>
          <p:nvPr/>
        </p:nvSpPr>
        <p:spPr>
          <a:xfrm>
            <a:off x="2706371" y="2820554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84AB0C-7756-4391-9F12-16963D6CB5F8}"/>
              </a:ext>
            </a:extLst>
          </p:cNvPr>
          <p:cNvSpPr/>
          <p:nvPr/>
        </p:nvSpPr>
        <p:spPr>
          <a:xfrm>
            <a:off x="5086172" y="2831519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8989F67-2094-40E2-A96A-B92F5C16BE51}"/>
              </a:ext>
            </a:extLst>
          </p:cNvPr>
          <p:cNvSpPr/>
          <p:nvPr/>
        </p:nvSpPr>
        <p:spPr>
          <a:xfrm>
            <a:off x="3701965" y="2137312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next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5C5189D-E6C7-47AC-A0F0-D9CA6D705C56}"/>
              </a:ext>
            </a:extLst>
          </p:cNvPr>
          <p:cNvSpPr/>
          <p:nvPr/>
        </p:nvSpPr>
        <p:spPr>
          <a:xfrm>
            <a:off x="3701965" y="2668705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prev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18185AB-F8A7-4061-8294-D15037CA0D57}"/>
              </a:ext>
            </a:extLst>
          </p:cNvPr>
          <p:cNvSpPr/>
          <p:nvPr/>
        </p:nvSpPr>
        <p:spPr>
          <a:xfrm>
            <a:off x="2620402" y="1994518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cable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F7F419-5CC9-400A-B67A-0E7E6F5AD01F}"/>
              </a:ext>
            </a:extLst>
          </p:cNvPr>
          <p:cNvSpPr/>
          <p:nvPr/>
        </p:nvSpPr>
        <p:spPr>
          <a:xfrm>
            <a:off x="5028451" y="1985491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cable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D3F97A0-0209-49EA-A652-97A08B34AA95}"/>
              </a:ext>
            </a:extLst>
          </p:cNvPr>
          <p:cNvSpPr/>
          <p:nvPr/>
        </p:nvSpPr>
        <p:spPr>
          <a:xfrm>
            <a:off x="1713363" y="5301415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6684F25-F0F4-475C-9B01-36DE12792970}"/>
              </a:ext>
            </a:extLst>
          </p:cNvPr>
          <p:cNvSpPr/>
          <p:nvPr/>
        </p:nvSpPr>
        <p:spPr>
          <a:xfrm>
            <a:off x="494709" y="5301415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6751B9-F994-4AB4-921A-82C48F86FE12}"/>
              </a:ext>
            </a:extLst>
          </p:cNvPr>
          <p:cNvSpPr/>
          <p:nvPr/>
        </p:nvSpPr>
        <p:spPr>
          <a:xfrm>
            <a:off x="691978" y="3580394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in</a:t>
            </a:r>
            <a:b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structure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78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2" grpId="0"/>
      <p:bldP spid="63" grpId="0"/>
      <p:bldP spid="65" grpId="0"/>
      <p:bldP spid="68" grpId="0"/>
      <p:bldP spid="69" grpId="0"/>
      <p:bldP spid="70" grpId="0"/>
      <p:bldP spid="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GB" dirty="0"/>
              <a:t>2. Conduit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5489" y="5206289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767777" y="5232003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346840" y="5232003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237476" y="5206289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Structure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591799" y="4509120"/>
            <a:ext cx="2057400" cy="0"/>
          </a:xfrm>
          <a:prstGeom prst="line">
            <a:avLst/>
          </a:prstGeom>
          <a:ln w="41275">
            <a:solidFill>
              <a:schemeClr val="accent6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/>
        </p:nvCxnSpPr>
        <p:spPr>
          <a:xfrm>
            <a:off x="4256095" y="4509120"/>
            <a:ext cx="2044097" cy="0"/>
          </a:xfrm>
          <a:prstGeom prst="line">
            <a:avLst/>
          </a:prstGeom>
          <a:ln w="41275">
            <a:solidFill>
              <a:schemeClr val="accent6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38655" y="4257092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Route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660337" y="4648488"/>
            <a:ext cx="10284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408656" y="4627292"/>
            <a:ext cx="10284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468766" y="4660955"/>
            <a:ext cx="62163" cy="394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092136" y="4648488"/>
            <a:ext cx="175097" cy="42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237476" y="1131024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Cable Segment</a:t>
            </a:r>
          </a:p>
        </p:txBody>
      </p:sp>
      <p:cxnSp>
        <p:nvCxnSpPr>
          <p:cNvPr id="37" name="Straight Arrow Connector 36"/>
          <p:cNvCxnSpPr>
            <a:cxnSpLocks/>
          </p:cNvCxnSpPr>
          <p:nvPr/>
        </p:nvCxnSpPr>
        <p:spPr>
          <a:xfrm flipH="1">
            <a:off x="1979712" y="1671333"/>
            <a:ext cx="72008" cy="2698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4955723" y="1599448"/>
            <a:ext cx="0" cy="843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068384" y="3030135"/>
            <a:ext cx="229058" cy="1907321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 47"/>
          <p:cNvSpPr/>
          <p:nvPr/>
        </p:nvSpPr>
        <p:spPr>
          <a:xfrm flipH="1">
            <a:off x="6420265" y="3096819"/>
            <a:ext cx="207574" cy="1977497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/>
          <p:cNvCxnSpPr/>
          <p:nvPr/>
        </p:nvCxnSpPr>
        <p:spPr>
          <a:xfrm>
            <a:off x="1570510" y="1472771"/>
            <a:ext cx="2057400" cy="0"/>
          </a:xfrm>
          <a:prstGeom prst="line">
            <a:avLst/>
          </a:prstGeom>
          <a:ln w="41275">
            <a:solidFill>
              <a:srgbClr val="A02AA0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 flipV="1">
            <a:off x="4347374" y="1451905"/>
            <a:ext cx="2072891" cy="33891"/>
          </a:xfrm>
          <a:prstGeom prst="line">
            <a:avLst/>
          </a:prstGeom>
          <a:ln w="41275">
            <a:solidFill>
              <a:srgbClr val="A02AA0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3758711" y="1335094"/>
            <a:ext cx="452761" cy="88777"/>
          </a:xfrm>
          <a:custGeom>
            <a:avLst/>
            <a:gdLst>
              <a:gd name="connsiteX0" fmla="*/ 0 w 452761"/>
              <a:gd name="connsiteY0" fmla="*/ 88777 h 88777"/>
              <a:gd name="connsiteX1" fmla="*/ 230820 w 452761"/>
              <a:gd name="connsiteY1" fmla="*/ 0 h 88777"/>
              <a:gd name="connsiteX2" fmla="*/ 452761 w 452761"/>
              <a:gd name="connsiteY2" fmla="*/ 88777 h 88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761" h="88777">
                <a:moveTo>
                  <a:pt x="0" y="88777"/>
                </a:moveTo>
                <a:cubicBezTo>
                  <a:pt x="77680" y="44388"/>
                  <a:pt x="155360" y="0"/>
                  <a:pt x="230820" y="0"/>
                </a:cubicBezTo>
                <a:cubicBezTo>
                  <a:pt x="306280" y="0"/>
                  <a:pt x="379520" y="44388"/>
                  <a:pt x="452761" y="88777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 37"/>
          <p:cNvSpPr/>
          <p:nvPr/>
        </p:nvSpPr>
        <p:spPr>
          <a:xfrm rot="10991619">
            <a:off x="3741345" y="1570013"/>
            <a:ext cx="452761" cy="88777"/>
          </a:xfrm>
          <a:custGeom>
            <a:avLst/>
            <a:gdLst>
              <a:gd name="connsiteX0" fmla="*/ 0 w 452761"/>
              <a:gd name="connsiteY0" fmla="*/ 88777 h 88777"/>
              <a:gd name="connsiteX1" fmla="*/ 230820 w 452761"/>
              <a:gd name="connsiteY1" fmla="*/ 0 h 88777"/>
              <a:gd name="connsiteX2" fmla="*/ 452761 w 452761"/>
              <a:gd name="connsiteY2" fmla="*/ 88777 h 88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761" h="88777">
                <a:moveTo>
                  <a:pt x="0" y="88777"/>
                </a:moveTo>
                <a:cubicBezTo>
                  <a:pt x="77680" y="44388"/>
                  <a:pt x="155360" y="0"/>
                  <a:pt x="230820" y="0"/>
                </a:cubicBezTo>
                <a:cubicBezTo>
                  <a:pt x="306280" y="0"/>
                  <a:pt x="379520" y="44388"/>
                  <a:pt x="452761" y="88777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F8809B3-9E3F-4CFF-B696-286052F16B42}"/>
              </a:ext>
            </a:extLst>
          </p:cNvPr>
          <p:cNvGrpSpPr/>
          <p:nvPr/>
        </p:nvGrpSpPr>
        <p:grpSpPr>
          <a:xfrm>
            <a:off x="4223260" y="7321956"/>
            <a:ext cx="1045543" cy="263942"/>
            <a:chOff x="2924323" y="5973370"/>
            <a:chExt cx="1045543" cy="26394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1A10A2D-A887-442A-846F-F14B122A119C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C7F209A-4376-4FAB-A3CE-BD63FB70F354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stored reference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E52AADA7-2AFD-4E6C-A20C-A21F143E3919}"/>
              </a:ext>
            </a:extLst>
          </p:cNvPr>
          <p:cNvSpPr/>
          <p:nvPr/>
        </p:nvSpPr>
        <p:spPr>
          <a:xfrm>
            <a:off x="2066426" y="2505492"/>
            <a:ext cx="998415" cy="40641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Cable segments not in conduit are housed in route</a:t>
            </a:r>
          </a:p>
          <a:p>
            <a:pPr algn="ctr"/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84AB0C-7756-4391-9F12-16963D6CB5F8}"/>
              </a:ext>
            </a:extLst>
          </p:cNvPr>
          <p:cNvSpPr/>
          <p:nvPr/>
        </p:nvSpPr>
        <p:spPr>
          <a:xfrm>
            <a:off x="4987697" y="1903191"/>
            <a:ext cx="1081095" cy="30507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Cable segment housed in conduit</a:t>
            </a:r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8989F67-2094-40E2-A96A-B92F5C16BE51}"/>
              </a:ext>
            </a:extLst>
          </p:cNvPr>
          <p:cNvSpPr/>
          <p:nvPr/>
        </p:nvSpPr>
        <p:spPr>
          <a:xfrm>
            <a:off x="3651904" y="1103687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next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5C5189D-E6C7-47AC-A0F0-D9CA6D705C56}"/>
              </a:ext>
            </a:extLst>
          </p:cNvPr>
          <p:cNvSpPr/>
          <p:nvPr/>
        </p:nvSpPr>
        <p:spPr>
          <a:xfrm>
            <a:off x="3651904" y="1635080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prev</a:t>
            </a:r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6751B9-F994-4AB4-921A-82C48F86FE12}"/>
              </a:ext>
            </a:extLst>
          </p:cNvPr>
          <p:cNvSpPr/>
          <p:nvPr/>
        </p:nvSpPr>
        <p:spPr>
          <a:xfrm>
            <a:off x="702372" y="5626914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</a:t>
            </a:r>
            <a:b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structure</a:t>
            </a:r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080075A-EA36-44FD-83B5-85E65E669E77}"/>
              </a:ext>
            </a:extLst>
          </p:cNvPr>
          <p:cNvCxnSpPr/>
          <p:nvPr/>
        </p:nvCxnSpPr>
        <p:spPr>
          <a:xfrm>
            <a:off x="4347374" y="2706024"/>
            <a:ext cx="2057400" cy="0"/>
          </a:xfrm>
          <a:prstGeom prst="line">
            <a:avLst/>
          </a:prstGeom>
          <a:ln w="41275">
            <a:solidFill>
              <a:srgbClr val="FFC00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B2F02195-FE67-4E1F-BECC-E6506CB722C3}"/>
              </a:ext>
            </a:extLst>
          </p:cNvPr>
          <p:cNvSpPr/>
          <p:nvPr/>
        </p:nvSpPr>
        <p:spPr>
          <a:xfrm>
            <a:off x="4906407" y="2674748"/>
            <a:ext cx="1162399" cy="64246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Inner conduits are housed in</a:t>
            </a:r>
          </a:p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outer conduit</a:t>
            </a:r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Freeform 48">
            <a:extLst>
              <a:ext uri="{FF2B5EF4-FFF2-40B4-BE49-F238E27FC236}">
                <a16:creationId xmlns:a16="http://schemas.microsoft.com/office/drawing/2014/main" id="{632BF949-FD10-4F58-8326-FD3F6576A177}"/>
              </a:ext>
            </a:extLst>
          </p:cNvPr>
          <p:cNvSpPr/>
          <p:nvPr/>
        </p:nvSpPr>
        <p:spPr>
          <a:xfrm flipH="1">
            <a:off x="3627910" y="1713084"/>
            <a:ext cx="292871" cy="3228067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Freeform 48">
            <a:extLst>
              <a:ext uri="{FF2B5EF4-FFF2-40B4-BE49-F238E27FC236}">
                <a16:creationId xmlns:a16="http://schemas.microsoft.com/office/drawing/2014/main" id="{EF4B0450-4E3D-4BAF-A8A0-1B4CBFDEA6CE}"/>
              </a:ext>
            </a:extLst>
          </p:cNvPr>
          <p:cNvSpPr/>
          <p:nvPr/>
        </p:nvSpPr>
        <p:spPr>
          <a:xfrm>
            <a:off x="3987157" y="1674295"/>
            <a:ext cx="343475" cy="3255787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30580E2-4049-4D20-A619-C1A069DA7D4B}"/>
              </a:ext>
            </a:extLst>
          </p:cNvPr>
          <p:cNvCxnSpPr/>
          <p:nvPr/>
        </p:nvCxnSpPr>
        <p:spPr>
          <a:xfrm>
            <a:off x="4347374" y="3346628"/>
            <a:ext cx="2057400" cy="0"/>
          </a:xfrm>
          <a:prstGeom prst="line">
            <a:avLst/>
          </a:prstGeom>
          <a:ln w="41275">
            <a:solidFill>
              <a:srgbClr val="FFC00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4FDC08C-2BAE-4704-9706-4DB5C3AD8E52}"/>
              </a:ext>
            </a:extLst>
          </p:cNvPr>
          <p:cNvCxnSpPr>
            <a:cxnSpLocks/>
          </p:cNvCxnSpPr>
          <p:nvPr/>
        </p:nvCxnSpPr>
        <p:spPr>
          <a:xfrm flipV="1">
            <a:off x="4979437" y="2763236"/>
            <a:ext cx="0" cy="444274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906B61C-68D8-486F-BB13-481E2C20B23C}"/>
              </a:ext>
            </a:extLst>
          </p:cNvPr>
          <p:cNvCxnSpPr>
            <a:cxnSpLocks/>
          </p:cNvCxnSpPr>
          <p:nvPr/>
        </p:nvCxnSpPr>
        <p:spPr>
          <a:xfrm>
            <a:off x="4716016" y="3495072"/>
            <a:ext cx="0" cy="874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402C4E5-EAFF-4511-B000-3E9A251AFBAB}"/>
              </a:ext>
            </a:extLst>
          </p:cNvPr>
          <p:cNvSpPr/>
          <p:nvPr/>
        </p:nvSpPr>
        <p:spPr>
          <a:xfrm>
            <a:off x="4648901" y="3813110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Outer conduit housed in route</a:t>
            </a:r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Freeform 45">
            <a:extLst>
              <a:ext uri="{FF2B5EF4-FFF2-40B4-BE49-F238E27FC236}">
                <a16:creationId xmlns:a16="http://schemas.microsoft.com/office/drawing/2014/main" id="{E713A51A-9067-4F95-BA67-16FFCAF2C084}"/>
              </a:ext>
            </a:extLst>
          </p:cNvPr>
          <p:cNvSpPr/>
          <p:nvPr/>
        </p:nvSpPr>
        <p:spPr>
          <a:xfrm>
            <a:off x="1198858" y="1599448"/>
            <a:ext cx="221586" cy="3451667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Freeform 47">
            <a:extLst>
              <a:ext uri="{FF2B5EF4-FFF2-40B4-BE49-F238E27FC236}">
                <a16:creationId xmlns:a16="http://schemas.microsoft.com/office/drawing/2014/main" id="{DDA7BCE1-D414-46C4-B70E-D2D84D827946}"/>
              </a:ext>
            </a:extLst>
          </p:cNvPr>
          <p:cNvSpPr/>
          <p:nvPr/>
        </p:nvSpPr>
        <p:spPr>
          <a:xfrm flipH="1">
            <a:off x="6499886" y="1557470"/>
            <a:ext cx="246670" cy="3527046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99BE622-909D-4ADD-BAAA-94FEBB83A69E}"/>
              </a:ext>
            </a:extLst>
          </p:cNvPr>
          <p:cNvSpPr/>
          <p:nvPr/>
        </p:nvSpPr>
        <p:spPr>
          <a:xfrm>
            <a:off x="7148328" y="2884056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Conduit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15E6996-58F0-4881-A9F5-31E6E503B04A}"/>
              </a:ext>
            </a:extLst>
          </p:cNvPr>
          <p:cNvGrpSpPr/>
          <p:nvPr/>
        </p:nvGrpSpPr>
        <p:grpSpPr>
          <a:xfrm>
            <a:off x="3807912" y="6085200"/>
            <a:ext cx="1045543" cy="263942"/>
            <a:chOff x="2924323" y="5973370"/>
            <a:chExt cx="1045543" cy="263942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45B091F-E95E-4417-8AC1-8BFF2E5E358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3B4D2C-0ED4-40B3-9BC7-E28A350AB9EC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stored reference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29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2" grpId="0"/>
      <p:bldP spid="63" grpId="0"/>
      <p:bldP spid="71" grpId="0"/>
      <p:bldP spid="81" grpId="0"/>
      <p:bldP spid="8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GB" dirty="0"/>
              <a:t>3. Slack Loop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34174" y="1597919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Cable Segment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2809827" y="1734459"/>
            <a:ext cx="2057400" cy="0"/>
          </a:xfrm>
          <a:prstGeom prst="line">
            <a:avLst/>
          </a:prstGeom>
          <a:ln w="41275">
            <a:solidFill>
              <a:srgbClr val="A02AA0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F8809B3-9E3F-4CFF-B696-286052F16B42}"/>
              </a:ext>
            </a:extLst>
          </p:cNvPr>
          <p:cNvGrpSpPr/>
          <p:nvPr/>
        </p:nvGrpSpPr>
        <p:grpSpPr>
          <a:xfrm>
            <a:off x="4223260" y="7321956"/>
            <a:ext cx="1045543" cy="263942"/>
            <a:chOff x="2924323" y="5973370"/>
            <a:chExt cx="1045543" cy="26394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1A10A2D-A887-442A-846F-F14B122A119C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C7F209A-4376-4FAB-A3CE-BD63FB70F354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stored reference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15E6996-58F0-4881-A9F5-31E6E503B04A}"/>
              </a:ext>
            </a:extLst>
          </p:cNvPr>
          <p:cNvGrpSpPr/>
          <p:nvPr/>
        </p:nvGrpSpPr>
        <p:grpSpPr>
          <a:xfrm>
            <a:off x="3807912" y="6085200"/>
            <a:ext cx="1045543" cy="263942"/>
            <a:chOff x="2924323" y="5973370"/>
            <a:chExt cx="1045543" cy="263942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45B091F-E95E-4417-8AC1-8BFF2E5E358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3B4D2C-0ED4-40B3-9BC7-E28A350AB9EC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stored reference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34C62704-F000-49E2-A655-621A9553BDB4}"/>
              </a:ext>
            </a:extLst>
          </p:cNvPr>
          <p:cNvSpPr/>
          <p:nvPr/>
        </p:nvSpPr>
        <p:spPr>
          <a:xfrm>
            <a:off x="682117" y="4868817"/>
            <a:ext cx="6929184" cy="1216383"/>
          </a:xfrm>
          <a:prstGeom prst="rect">
            <a:avLst/>
          </a:prstGeom>
          <a:noFill/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Slack can be added to the start and end of cable segments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E8CADA7-DE02-4B60-8966-314C5C5CB8C2}"/>
              </a:ext>
            </a:extLst>
          </p:cNvPr>
          <p:cNvSpPr/>
          <p:nvPr/>
        </p:nvSpPr>
        <p:spPr>
          <a:xfrm>
            <a:off x="6334174" y="2630575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Slack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79729E-9E1D-4614-AEFD-BB907F6234DA}"/>
              </a:ext>
            </a:extLst>
          </p:cNvPr>
          <p:cNvSpPr/>
          <p:nvPr/>
        </p:nvSpPr>
        <p:spPr>
          <a:xfrm>
            <a:off x="2616487" y="3752869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C45F54-DA08-41E4-8820-62BB95590851}"/>
              </a:ext>
            </a:extLst>
          </p:cNvPr>
          <p:cNvSpPr/>
          <p:nvPr/>
        </p:nvSpPr>
        <p:spPr>
          <a:xfrm>
            <a:off x="4732835" y="3765321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15D95B1-0A99-4FF3-B76F-BD6CBE56AB87}"/>
              </a:ext>
            </a:extLst>
          </p:cNvPr>
          <p:cNvSpPr/>
          <p:nvPr/>
        </p:nvSpPr>
        <p:spPr>
          <a:xfrm>
            <a:off x="6382947" y="3784392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Structure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C7D06AE-ABAD-4405-8F71-108A85CF16DD}"/>
              </a:ext>
            </a:extLst>
          </p:cNvPr>
          <p:cNvSpPr/>
          <p:nvPr/>
        </p:nvSpPr>
        <p:spPr>
          <a:xfrm>
            <a:off x="2701815" y="2829323"/>
            <a:ext cx="216024" cy="216024"/>
          </a:xfrm>
          <a:prstGeom prst="ellipse">
            <a:avLst/>
          </a:prstGeom>
          <a:solidFill>
            <a:srgbClr val="FBC69B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B992FA3-DE09-4207-B15C-4C9341CEAF41}"/>
              </a:ext>
            </a:extLst>
          </p:cNvPr>
          <p:cNvSpPr/>
          <p:nvPr/>
        </p:nvSpPr>
        <p:spPr>
          <a:xfrm>
            <a:off x="4837397" y="2807710"/>
            <a:ext cx="216024" cy="216024"/>
          </a:xfrm>
          <a:prstGeom prst="ellipse">
            <a:avLst/>
          </a:prstGeom>
          <a:solidFill>
            <a:srgbClr val="FBC69B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Freeform 45">
            <a:extLst>
              <a:ext uri="{FF2B5EF4-FFF2-40B4-BE49-F238E27FC236}">
                <a16:creationId xmlns:a16="http://schemas.microsoft.com/office/drawing/2014/main" id="{39EC0C8B-36B9-495B-8A13-7D8F67DA5E58}"/>
              </a:ext>
            </a:extLst>
          </p:cNvPr>
          <p:cNvSpPr/>
          <p:nvPr/>
        </p:nvSpPr>
        <p:spPr>
          <a:xfrm>
            <a:off x="2771262" y="1991966"/>
            <a:ext cx="50490" cy="714780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Freeform 45">
            <a:extLst>
              <a:ext uri="{FF2B5EF4-FFF2-40B4-BE49-F238E27FC236}">
                <a16:creationId xmlns:a16="http://schemas.microsoft.com/office/drawing/2014/main" id="{93B55C11-506A-4E3C-A2CA-7A1147F9F485}"/>
              </a:ext>
            </a:extLst>
          </p:cNvPr>
          <p:cNvSpPr/>
          <p:nvPr/>
        </p:nvSpPr>
        <p:spPr>
          <a:xfrm flipH="1">
            <a:off x="4877527" y="1970573"/>
            <a:ext cx="70656" cy="714734"/>
          </a:xfrm>
          <a:custGeom>
            <a:avLst/>
            <a:gdLst>
              <a:gd name="connsiteX0" fmla="*/ 247698 w 247698"/>
              <a:gd name="connsiteY0" fmla="*/ 0 h 1257300"/>
              <a:gd name="connsiteX1" fmla="*/ 36682 w 247698"/>
              <a:gd name="connsiteY1" fmla="*/ 703385 h 1257300"/>
              <a:gd name="connsiteX2" fmla="*/ 1513 w 247698"/>
              <a:gd name="connsiteY2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98" h="1257300">
                <a:moveTo>
                  <a:pt x="247698" y="0"/>
                </a:moveTo>
                <a:cubicBezTo>
                  <a:pt x="162705" y="246917"/>
                  <a:pt x="77713" y="493835"/>
                  <a:pt x="36682" y="703385"/>
                </a:cubicBezTo>
                <a:cubicBezTo>
                  <a:pt x="-4349" y="912935"/>
                  <a:pt x="-1418" y="1085117"/>
                  <a:pt x="1513" y="125730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20A638-D90F-4342-A9E2-6D582CD145EA}"/>
              </a:ext>
            </a:extLst>
          </p:cNvPr>
          <p:cNvSpPr/>
          <p:nvPr/>
        </p:nvSpPr>
        <p:spPr>
          <a:xfrm>
            <a:off x="1822148" y="2198554"/>
            <a:ext cx="1081095" cy="30507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 Slack</a:t>
            </a:r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18CCF5-07F8-44D2-95A0-BD07560BFF05}"/>
              </a:ext>
            </a:extLst>
          </p:cNvPr>
          <p:cNvSpPr/>
          <p:nvPr/>
        </p:nvSpPr>
        <p:spPr>
          <a:xfrm>
            <a:off x="4065829" y="2226943"/>
            <a:ext cx="1081095" cy="30507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 slack</a:t>
            </a:r>
            <a:endParaRPr lang="en-GB" sz="1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6F20339-C411-40CD-AB9F-E95556DD297D}"/>
              </a:ext>
            </a:extLst>
          </p:cNvPr>
          <p:cNvCxnSpPr>
            <a:cxnSpLocks/>
          </p:cNvCxnSpPr>
          <p:nvPr/>
        </p:nvCxnSpPr>
        <p:spPr>
          <a:xfrm>
            <a:off x="2770332" y="3168157"/>
            <a:ext cx="0" cy="45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DF4F3CC-1CF0-465E-A135-483199D1F256}"/>
              </a:ext>
            </a:extLst>
          </p:cNvPr>
          <p:cNvCxnSpPr>
            <a:cxnSpLocks/>
          </p:cNvCxnSpPr>
          <p:nvPr/>
        </p:nvCxnSpPr>
        <p:spPr>
          <a:xfrm>
            <a:off x="4948183" y="3168157"/>
            <a:ext cx="0" cy="45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A3148E3A-CFE2-46ED-97EB-19EA6E1C5E1C}"/>
              </a:ext>
            </a:extLst>
          </p:cNvPr>
          <p:cNvSpPr/>
          <p:nvPr/>
        </p:nvSpPr>
        <p:spPr>
          <a:xfrm>
            <a:off x="2770332" y="3267812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1B47E6-4461-47B6-86A9-4F49A63AD0CA}"/>
              </a:ext>
            </a:extLst>
          </p:cNvPr>
          <p:cNvSpPr/>
          <p:nvPr/>
        </p:nvSpPr>
        <p:spPr>
          <a:xfrm>
            <a:off x="4998028" y="3229124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95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8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7A122FB-76EE-4090-876B-BEE83C6100CC}"/>
              </a:ext>
            </a:extLst>
          </p:cNvPr>
          <p:cNvSpPr/>
          <p:nvPr/>
        </p:nvSpPr>
        <p:spPr>
          <a:xfrm>
            <a:off x="4706213" y="2003271"/>
            <a:ext cx="216024" cy="663231"/>
          </a:xfrm>
          <a:prstGeom prst="rect">
            <a:avLst/>
          </a:prstGeom>
          <a:noFill/>
          <a:ln w="15875">
            <a:solidFill>
              <a:srgbClr val="1B9B15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B9B1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Connectivity Model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7C61E5F-3F99-4270-90DD-FDA6E4512F4A}"/>
              </a:ext>
            </a:extLst>
          </p:cNvPr>
          <p:cNvGrpSpPr/>
          <p:nvPr/>
        </p:nvGrpSpPr>
        <p:grpSpPr>
          <a:xfrm>
            <a:off x="979354" y="1289579"/>
            <a:ext cx="1680413" cy="1185857"/>
            <a:chOff x="979354" y="1289579"/>
            <a:chExt cx="1680413" cy="1185857"/>
          </a:xfrm>
        </p:grpSpPr>
        <p:sp>
          <p:nvSpPr>
            <p:cNvPr id="5" name="Rectangle 4"/>
            <p:cNvSpPr/>
            <p:nvPr/>
          </p:nvSpPr>
          <p:spPr>
            <a:xfrm>
              <a:off x="1040588" y="2141110"/>
              <a:ext cx="1499947" cy="33432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7030A0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79354" y="1289579"/>
              <a:ext cx="1680413" cy="334327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>
                  <a:solidFill>
                    <a:srgbClr val="7030A0"/>
                  </a:solidFill>
                </a:rPr>
                <a:t>Cable Segment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AB4036C-73B6-4904-B5FA-A62D3777748B}"/>
              </a:ext>
            </a:extLst>
          </p:cNvPr>
          <p:cNvGrpSpPr/>
          <p:nvPr/>
        </p:nvGrpSpPr>
        <p:grpSpPr>
          <a:xfrm>
            <a:off x="3668771" y="1165886"/>
            <a:ext cx="1224136" cy="1500615"/>
            <a:chOff x="3668771" y="1165886"/>
            <a:chExt cx="1224136" cy="1500615"/>
          </a:xfrm>
        </p:grpSpPr>
        <p:sp>
          <p:nvSpPr>
            <p:cNvPr id="7" name="Rectangle 6"/>
            <p:cNvSpPr/>
            <p:nvPr/>
          </p:nvSpPr>
          <p:spPr>
            <a:xfrm>
              <a:off x="3950129" y="2003271"/>
              <a:ext cx="648072" cy="663230"/>
            </a:xfrm>
            <a:prstGeom prst="rect">
              <a:avLst/>
            </a:prstGeom>
            <a:solidFill>
              <a:srgbClr val="FBC69B"/>
            </a:solidFill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668771" y="1165886"/>
              <a:ext cx="1224136" cy="504056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>
                  <a:solidFill>
                    <a:schemeClr val="accent6"/>
                  </a:solidFill>
                </a:rPr>
                <a:t>Equipment</a:t>
              </a:r>
            </a:p>
          </p:txBody>
        </p:sp>
      </p:grp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2935155" y="2119360"/>
            <a:ext cx="602663" cy="9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F328A8-5A05-4022-BAD0-0DEAE41DAC76}"/>
              </a:ext>
            </a:extLst>
          </p:cNvPr>
          <p:cNvGrpSpPr/>
          <p:nvPr/>
        </p:nvGrpSpPr>
        <p:grpSpPr>
          <a:xfrm>
            <a:off x="4778221" y="2105300"/>
            <a:ext cx="72008" cy="475480"/>
            <a:chOff x="4535996" y="3702744"/>
            <a:chExt cx="72008" cy="475480"/>
          </a:xfrm>
          <a:noFill/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9E8A16E-B54C-4CA6-97BC-89BC6C25E120}"/>
                </a:ext>
              </a:extLst>
            </p:cNvPr>
            <p:cNvSpPr/>
            <p:nvPr/>
          </p:nvSpPr>
          <p:spPr>
            <a:xfrm>
              <a:off x="4535996" y="3833709"/>
              <a:ext cx="72008" cy="72008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0082B58-45C8-4F8C-AC63-B99AC9B51CD3}"/>
                </a:ext>
              </a:extLst>
            </p:cNvPr>
            <p:cNvSpPr/>
            <p:nvPr/>
          </p:nvSpPr>
          <p:spPr>
            <a:xfrm>
              <a:off x="4535996" y="3702744"/>
              <a:ext cx="72008" cy="72008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935697E-4BDC-4BAB-80EC-1CA704A6213E}"/>
                </a:ext>
              </a:extLst>
            </p:cNvPr>
            <p:cNvSpPr/>
            <p:nvPr/>
          </p:nvSpPr>
          <p:spPr>
            <a:xfrm>
              <a:off x="4535996" y="4106216"/>
              <a:ext cx="72008" cy="72008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60C1FFC-C390-487E-9F85-155EDCCF944B}"/>
                </a:ext>
              </a:extLst>
            </p:cNvPr>
            <p:cNvSpPr/>
            <p:nvPr/>
          </p:nvSpPr>
          <p:spPr>
            <a:xfrm>
              <a:off x="4535996" y="3975251"/>
              <a:ext cx="72008" cy="72008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EF077187-926A-4518-A204-898D1F70A16A}"/>
              </a:ext>
            </a:extLst>
          </p:cNvPr>
          <p:cNvSpPr/>
          <p:nvPr/>
        </p:nvSpPr>
        <p:spPr>
          <a:xfrm>
            <a:off x="3639237" y="2003271"/>
            <a:ext cx="216024" cy="663231"/>
          </a:xfrm>
          <a:prstGeom prst="rect">
            <a:avLst/>
          </a:prstGeom>
          <a:noFill/>
          <a:ln w="15875">
            <a:solidFill>
              <a:srgbClr val="1B9B15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B9B15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EB1C72-A7B1-42CC-B860-583BAEF1A890}"/>
              </a:ext>
            </a:extLst>
          </p:cNvPr>
          <p:cNvGrpSpPr/>
          <p:nvPr/>
        </p:nvGrpSpPr>
        <p:grpSpPr>
          <a:xfrm>
            <a:off x="2684552" y="1926230"/>
            <a:ext cx="72008" cy="755155"/>
            <a:chOff x="3131840" y="2688729"/>
            <a:chExt cx="72008" cy="755155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D794189-6DF6-49C7-8DA3-034F46061A26}"/>
                </a:ext>
              </a:extLst>
            </p:cNvPr>
            <p:cNvGrpSpPr/>
            <p:nvPr/>
          </p:nvGrpSpPr>
          <p:grpSpPr>
            <a:xfrm>
              <a:off x="3131840" y="2968404"/>
              <a:ext cx="72008" cy="475480"/>
              <a:chOff x="4535996" y="3702744"/>
              <a:chExt cx="72008" cy="475480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CC5710E-2908-4A80-A152-86745D1619EC}"/>
                  </a:ext>
                </a:extLst>
              </p:cNvPr>
              <p:cNvSpPr/>
              <p:nvPr/>
            </p:nvSpPr>
            <p:spPr>
              <a:xfrm>
                <a:off x="4535996" y="3833709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BE7C0F5-8582-494B-8D46-CC7AE66CFC54}"/>
                  </a:ext>
                </a:extLst>
              </p:cNvPr>
              <p:cNvSpPr/>
              <p:nvPr/>
            </p:nvSpPr>
            <p:spPr>
              <a:xfrm>
                <a:off x="4535996" y="370274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CA72074-9096-4131-8DDB-1C66BA044ADF}"/>
                  </a:ext>
                </a:extLst>
              </p:cNvPr>
              <p:cNvSpPr/>
              <p:nvPr/>
            </p:nvSpPr>
            <p:spPr>
              <a:xfrm>
                <a:off x="4535996" y="410621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078E2A2-DBE3-4703-9482-BE6832830EC2}"/>
                  </a:ext>
                </a:extLst>
              </p:cNvPr>
              <p:cNvSpPr/>
              <p:nvPr/>
            </p:nvSpPr>
            <p:spPr>
              <a:xfrm>
                <a:off x="4535996" y="3975251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20A2DA8-5F2D-45F2-BA8F-1610FD96E83C}"/>
                </a:ext>
              </a:extLst>
            </p:cNvPr>
            <p:cNvGrpSpPr/>
            <p:nvPr/>
          </p:nvGrpSpPr>
          <p:grpSpPr>
            <a:xfrm>
              <a:off x="3131840" y="2688729"/>
              <a:ext cx="72008" cy="213550"/>
              <a:chOff x="4261108" y="2998764"/>
              <a:chExt cx="72008" cy="21355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AD90188A-E735-46B6-B4BA-1E906B01321C}"/>
                  </a:ext>
                </a:extLst>
              </p:cNvPr>
              <p:cNvSpPr/>
              <p:nvPr/>
            </p:nvSpPr>
            <p:spPr>
              <a:xfrm>
                <a:off x="4261108" y="299876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5052F3CF-9B92-4A65-819D-410AE7D2E084}"/>
                  </a:ext>
                </a:extLst>
              </p:cNvPr>
              <p:cNvSpPr/>
              <p:nvPr/>
            </p:nvSpPr>
            <p:spPr>
              <a:xfrm>
                <a:off x="4261108" y="314030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45B852E-FEFC-40BA-8484-C1D851EE4750}"/>
              </a:ext>
            </a:extLst>
          </p:cNvPr>
          <p:cNvGrpSpPr/>
          <p:nvPr/>
        </p:nvGrpSpPr>
        <p:grpSpPr>
          <a:xfrm>
            <a:off x="827584" y="1935373"/>
            <a:ext cx="72008" cy="755155"/>
            <a:chOff x="3131840" y="2688729"/>
            <a:chExt cx="72008" cy="755155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3122AB4-3091-4F56-B0F6-B56C3E5C6B8D}"/>
                </a:ext>
              </a:extLst>
            </p:cNvPr>
            <p:cNvGrpSpPr/>
            <p:nvPr/>
          </p:nvGrpSpPr>
          <p:grpSpPr>
            <a:xfrm>
              <a:off x="3131840" y="2968404"/>
              <a:ext cx="72008" cy="475480"/>
              <a:chOff x="4535996" y="3702744"/>
              <a:chExt cx="72008" cy="475480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A37E08F4-8D22-4FB0-9D62-03EEC58150A1}"/>
                  </a:ext>
                </a:extLst>
              </p:cNvPr>
              <p:cNvSpPr/>
              <p:nvPr/>
            </p:nvSpPr>
            <p:spPr>
              <a:xfrm>
                <a:off x="4535996" y="3833709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F577932-E146-484A-B048-25CAB360A5DD}"/>
                  </a:ext>
                </a:extLst>
              </p:cNvPr>
              <p:cNvSpPr/>
              <p:nvPr/>
            </p:nvSpPr>
            <p:spPr>
              <a:xfrm>
                <a:off x="4535996" y="370274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67062802-B6D3-404F-AEB7-B2C1A3844891}"/>
                  </a:ext>
                </a:extLst>
              </p:cNvPr>
              <p:cNvSpPr/>
              <p:nvPr/>
            </p:nvSpPr>
            <p:spPr>
              <a:xfrm>
                <a:off x="4535996" y="410621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E89DD68-2F35-4C17-9115-8FA917988881}"/>
                  </a:ext>
                </a:extLst>
              </p:cNvPr>
              <p:cNvSpPr/>
              <p:nvPr/>
            </p:nvSpPr>
            <p:spPr>
              <a:xfrm>
                <a:off x="4535996" y="3975251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EB2FA81-D92E-4D1F-9758-B4E710D3B54D}"/>
                </a:ext>
              </a:extLst>
            </p:cNvPr>
            <p:cNvGrpSpPr/>
            <p:nvPr/>
          </p:nvGrpSpPr>
          <p:grpSpPr>
            <a:xfrm>
              <a:off x="3131840" y="2688729"/>
              <a:ext cx="72008" cy="213550"/>
              <a:chOff x="4261108" y="2998764"/>
              <a:chExt cx="72008" cy="213550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ABCF0EA0-1EBB-44B0-8AE9-C9E5A0CC2BBD}"/>
                  </a:ext>
                </a:extLst>
              </p:cNvPr>
              <p:cNvSpPr/>
              <p:nvPr/>
            </p:nvSpPr>
            <p:spPr>
              <a:xfrm>
                <a:off x="4261108" y="299876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BB8B825-F89E-4D1A-A020-DC65FF89A0F7}"/>
                  </a:ext>
                </a:extLst>
              </p:cNvPr>
              <p:cNvSpPr/>
              <p:nvPr/>
            </p:nvSpPr>
            <p:spPr>
              <a:xfrm>
                <a:off x="4261108" y="314030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B3D6D74-AD52-4414-8771-9123D8CFD913}"/>
              </a:ext>
            </a:extLst>
          </p:cNvPr>
          <p:cNvSpPr/>
          <p:nvPr/>
        </p:nvSpPr>
        <p:spPr>
          <a:xfrm>
            <a:off x="4560473" y="2650646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1B9B15"/>
                </a:solidFill>
              </a:rPr>
              <a:t>out</a:t>
            </a:r>
            <a:endParaRPr lang="en-GB" sz="1000">
              <a:solidFill>
                <a:srgbClr val="1B9B15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E3A7BE2-90DD-4F19-9F94-E2F3ADE28E55}"/>
              </a:ext>
            </a:extLst>
          </p:cNvPr>
          <p:cNvSpPr/>
          <p:nvPr/>
        </p:nvSpPr>
        <p:spPr>
          <a:xfrm>
            <a:off x="3491880" y="2656810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1B9B15"/>
                </a:solidFill>
              </a:rPr>
              <a:t>i</a:t>
            </a:r>
            <a:r>
              <a:rPr lang="en-GB" sz="1000">
                <a:solidFill>
                  <a:srgbClr val="1B9B15"/>
                </a:solidFill>
              </a:rPr>
              <a:t>n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09B0236-4872-4D72-8216-D73608EB49AF}"/>
              </a:ext>
            </a:extLst>
          </p:cNvPr>
          <p:cNvGrpSpPr/>
          <p:nvPr/>
        </p:nvGrpSpPr>
        <p:grpSpPr>
          <a:xfrm>
            <a:off x="593536" y="1840505"/>
            <a:ext cx="504056" cy="1166055"/>
            <a:chOff x="593536" y="1840505"/>
            <a:chExt cx="504056" cy="116605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248A758-31FD-4CE4-ADB5-264BE3AAF981}"/>
                </a:ext>
              </a:extLst>
            </p:cNvPr>
            <p:cNvSpPr/>
            <p:nvPr/>
          </p:nvSpPr>
          <p:spPr>
            <a:xfrm>
              <a:off x="755576" y="1840505"/>
              <a:ext cx="216024" cy="935746"/>
            </a:xfrm>
            <a:prstGeom prst="rect">
              <a:avLst/>
            </a:prstGeom>
            <a:noFill/>
            <a:ln w="15875">
              <a:solidFill>
                <a:srgbClr val="1B9B15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1B9B15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78507F4-7BF1-448B-AC94-79DC49201C3F}"/>
                </a:ext>
              </a:extLst>
            </p:cNvPr>
            <p:cNvSpPr/>
            <p:nvPr/>
          </p:nvSpPr>
          <p:spPr>
            <a:xfrm>
              <a:off x="593536" y="2742618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rgbClr val="1B9B15"/>
                  </a:solidFill>
                </a:rPr>
                <a:t>i</a:t>
              </a:r>
              <a:r>
                <a:rPr lang="en-GB" sz="1000">
                  <a:solidFill>
                    <a:srgbClr val="1B9B15"/>
                  </a:solidFill>
                </a:rPr>
                <a:t>n</a:t>
              </a: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1EEA30E0-FB3D-44E1-B00F-14CB9778E3D3}"/>
              </a:ext>
            </a:extLst>
          </p:cNvPr>
          <p:cNvGrpSpPr/>
          <p:nvPr/>
        </p:nvGrpSpPr>
        <p:grpSpPr>
          <a:xfrm>
            <a:off x="2478200" y="1831362"/>
            <a:ext cx="504056" cy="1164563"/>
            <a:chOff x="2478200" y="1831362"/>
            <a:chExt cx="504056" cy="1164563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7887C5B-F6A6-4F94-BF5D-60A79A3AF07D}"/>
                </a:ext>
              </a:extLst>
            </p:cNvPr>
            <p:cNvSpPr/>
            <p:nvPr/>
          </p:nvSpPr>
          <p:spPr>
            <a:xfrm>
              <a:off x="2612544" y="1831362"/>
              <a:ext cx="216024" cy="935746"/>
            </a:xfrm>
            <a:prstGeom prst="rect">
              <a:avLst/>
            </a:prstGeom>
            <a:noFill/>
            <a:ln w="15875">
              <a:solidFill>
                <a:srgbClr val="1B9B15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1B9B15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F48435D-6518-4DB4-BC96-1EB3DCCF3A68}"/>
                </a:ext>
              </a:extLst>
            </p:cNvPr>
            <p:cNvSpPr/>
            <p:nvPr/>
          </p:nvSpPr>
          <p:spPr>
            <a:xfrm>
              <a:off x="2478200" y="2731983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rgbClr val="1B9B15"/>
                  </a:solidFill>
                </a:rPr>
                <a:t>out</a:t>
              </a:r>
              <a:endParaRPr lang="en-GB" sz="1000">
                <a:solidFill>
                  <a:srgbClr val="1B9B15"/>
                </a:solidFill>
              </a:endParaRPr>
            </a:p>
          </p:txBody>
        </p:sp>
      </p:grp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9AC7CD39-8FC7-4F63-B2E3-2A25108E1B13}"/>
              </a:ext>
            </a:extLst>
          </p:cNvPr>
          <p:cNvCxnSpPr>
            <a:cxnSpLocks/>
          </p:cNvCxnSpPr>
          <p:nvPr/>
        </p:nvCxnSpPr>
        <p:spPr>
          <a:xfrm flipV="1">
            <a:off x="5041345" y="2008633"/>
            <a:ext cx="455848" cy="119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4ADA740-B6BB-4438-89AA-2EE6CD3C0BC3}"/>
              </a:ext>
            </a:extLst>
          </p:cNvPr>
          <p:cNvCxnSpPr>
            <a:cxnSpLocks/>
          </p:cNvCxnSpPr>
          <p:nvPr/>
        </p:nvCxnSpPr>
        <p:spPr>
          <a:xfrm flipV="1">
            <a:off x="5041345" y="2146634"/>
            <a:ext cx="455848" cy="119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A648CB10-7551-4C9E-85D5-88949D4A0CF6}"/>
              </a:ext>
            </a:extLst>
          </p:cNvPr>
          <p:cNvGrpSpPr/>
          <p:nvPr/>
        </p:nvGrpSpPr>
        <p:grpSpPr>
          <a:xfrm>
            <a:off x="3491880" y="1670328"/>
            <a:ext cx="504056" cy="779487"/>
            <a:chOff x="3491880" y="1670328"/>
            <a:chExt cx="504056" cy="77948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227F0A-8466-403F-BA1B-3D3F409B631E}"/>
                </a:ext>
              </a:extLst>
            </p:cNvPr>
            <p:cNvGrpSpPr/>
            <p:nvPr/>
          </p:nvGrpSpPr>
          <p:grpSpPr>
            <a:xfrm>
              <a:off x="3711245" y="2236265"/>
              <a:ext cx="72008" cy="213550"/>
              <a:chOff x="4261108" y="2998764"/>
              <a:chExt cx="72008" cy="21355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F1E45943-B77E-4B62-8F13-83C0FF4EAAFD}"/>
                  </a:ext>
                </a:extLst>
              </p:cNvPr>
              <p:cNvSpPr/>
              <p:nvPr/>
            </p:nvSpPr>
            <p:spPr>
              <a:xfrm>
                <a:off x="4261108" y="299876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C3F501B-D100-45BC-A2C5-9FECBAA7BC06}"/>
                  </a:ext>
                </a:extLst>
              </p:cNvPr>
              <p:cNvSpPr/>
              <p:nvPr/>
            </p:nvSpPr>
            <p:spPr>
              <a:xfrm>
                <a:off x="4261108" y="314030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0E6F4309-4499-4CA5-960A-5B4200CA3BD3}"/>
                </a:ext>
              </a:extLst>
            </p:cNvPr>
            <p:cNvSpPr/>
            <p:nvPr/>
          </p:nvSpPr>
          <p:spPr>
            <a:xfrm>
              <a:off x="3491880" y="1670328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inputports</a:t>
              </a:r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DF9CDE23-EE22-4B21-AD59-0E1BF82C7AC8}"/>
              </a:ext>
            </a:extLst>
          </p:cNvPr>
          <p:cNvGrpSpPr/>
          <p:nvPr/>
        </p:nvGrpSpPr>
        <p:grpSpPr>
          <a:xfrm>
            <a:off x="4524777" y="1674520"/>
            <a:ext cx="579120" cy="903167"/>
            <a:chOff x="4524777" y="1674520"/>
            <a:chExt cx="579120" cy="903167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CB0CF8DD-D670-45E5-812A-35AE5C5AB2B3}"/>
                </a:ext>
              </a:extLst>
            </p:cNvPr>
            <p:cNvGrpSpPr/>
            <p:nvPr/>
          </p:nvGrpSpPr>
          <p:grpSpPr>
            <a:xfrm>
              <a:off x="4784970" y="2102207"/>
              <a:ext cx="72008" cy="475480"/>
              <a:chOff x="4535996" y="3702744"/>
              <a:chExt cx="72008" cy="475480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1450D5F0-8F9E-4ADF-B0B9-F5D20052B4CA}"/>
                  </a:ext>
                </a:extLst>
              </p:cNvPr>
              <p:cNvSpPr/>
              <p:nvPr/>
            </p:nvSpPr>
            <p:spPr>
              <a:xfrm>
                <a:off x="4535996" y="3833709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131AC218-2295-48BB-BCE3-680D0E984B95}"/>
                  </a:ext>
                </a:extLst>
              </p:cNvPr>
              <p:cNvSpPr/>
              <p:nvPr/>
            </p:nvSpPr>
            <p:spPr>
              <a:xfrm>
                <a:off x="4535996" y="370274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3B804B02-E5EF-4A80-A58F-72DCA92B00D1}"/>
                  </a:ext>
                </a:extLst>
              </p:cNvPr>
              <p:cNvSpPr/>
              <p:nvPr/>
            </p:nvSpPr>
            <p:spPr>
              <a:xfrm>
                <a:off x="4535996" y="410621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3B94ADA-AC1A-4CA3-910E-69FA2DB2AB50}"/>
                  </a:ext>
                </a:extLst>
              </p:cNvPr>
              <p:cNvSpPr/>
              <p:nvPr/>
            </p:nvSpPr>
            <p:spPr>
              <a:xfrm>
                <a:off x="4535996" y="3975251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7F68FC8-7E4B-45E1-821A-87BA6680849D}"/>
                </a:ext>
              </a:extLst>
            </p:cNvPr>
            <p:cNvSpPr/>
            <p:nvPr/>
          </p:nvSpPr>
          <p:spPr>
            <a:xfrm>
              <a:off x="4524777" y="1674520"/>
              <a:ext cx="579120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output ports</a:t>
              </a:r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14C960-4207-42FB-88FF-B71D6930E172}"/>
              </a:ext>
            </a:extLst>
          </p:cNvPr>
          <p:cNvSpPr/>
          <p:nvPr/>
        </p:nvSpPr>
        <p:spPr>
          <a:xfrm>
            <a:off x="2483920" y="1558412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fibres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577D997-E583-4CA6-871C-B7D0E91117A5}"/>
              </a:ext>
            </a:extLst>
          </p:cNvPr>
          <p:cNvSpPr/>
          <p:nvPr/>
        </p:nvSpPr>
        <p:spPr>
          <a:xfrm>
            <a:off x="611560" y="1580882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fibres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52FBED-8794-45F0-AB10-172060B4B590}"/>
              </a:ext>
            </a:extLst>
          </p:cNvPr>
          <p:cNvCxnSpPr>
            <a:cxnSpLocks/>
          </p:cNvCxnSpPr>
          <p:nvPr/>
        </p:nvCxnSpPr>
        <p:spPr>
          <a:xfrm flipV="1">
            <a:off x="1350636" y="2310125"/>
            <a:ext cx="902478" cy="802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98FCB12-D97D-4519-B5DA-1BC136B99931}"/>
              </a:ext>
            </a:extLst>
          </p:cNvPr>
          <p:cNvCxnSpPr>
            <a:cxnSpLocks/>
          </p:cNvCxnSpPr>
          <p:nvPr/>
        </p:nvCxnSpPr>
        <p:spPr>
          <a:xfrm>
            <a:off x="5053698" y="2425871"/>
            <a:ext cx="452735" cy="79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E039407-4393-47CC-AC73-14DEBAE6AA3D}"/>
              </a:ext>
            </a:extLst>
          </p:cNvPr>
          <p:cNvSpPr/>
          <p:nvPr/>
        </p:nvSpPr>
        <p:spPr>
          <a:xfrm>
            <a:off x="5779564" y="1246803"/>
            <a:ext cx="1680413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7030A0"/>
                </a:solidFill>
              </a:rPr>
              <a:t>Cable Segment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A8A8C41-7FF1-4249-AAF0-5778C197662A}"/>
              </a:ext>
            </a:extLst>
          </p:cNvPr>
          <p:cNvCxnSpPr>
            <a:cxnSpLocks/>
          </p:cNvCxnSpPr>
          <p:nvPr/>
        </p:nvCxnSpPr>
        <p:spPr>
          <a:xfrm>
            <a:off x="2948979" y="2259480"/>
            <a:ext cx="602663" cy="9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224E4338-B98D-4CD6-9AE3-331C7C563DB8}"/>
              </a:ext>
            </a:extLst>
          </p:cNvPr>
          <p:cNvGrpSpPr/>
          <p:nvPr/>
        </p:nvGrpSpPr>
        <p:grpSpPr>
          <a:xfrm>
            <a:off x="5464370" y="1556792"/>
            <a:ext cx="2336831" cy="699211"/>
            <a:chOff x="5530028" y="1628800"/>
            <a:chExt cx="2336831" cy="699211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C7FC586-E46E-46CD-B744-D2A5EE925233}"/>
                </a:ext>
              </a:extLst>
            </p:cNvPr>
            <p:cNvSpPr/>
            <p:nvPr/>
          </p:nvSpPr>
          <p:spPr>
            <a:xfrm>
              <a:off x="7362803" y="1628800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fibres</a:t>
              </a:r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CF647C8D-2547-4138-83B9-4677A6122EA4}"/>
                </a:ext>
              </a:extLst>
            </p:cNvPr>
            <p:cNvGrpSpPr/>
            <p:nvPr/>
          </p:nvGrpSpPr>
          <p:grpSpPr>
            <a:xfrm>
              <a:off x="5530028" y="1645001"/>
              <a:ext cx="2210324" cy="683010"/>
              <a:chOff x="5530028" y="1645001"/>
              <a:chExt cx="2210324" cy="68301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8F1D9836-347F-4675-BC9A-1F68954F83E3}"/>
                  </a:ext>
                </a:extLst>
              </p:cNvPr>
              <p:cNvSpPr/>
              <p:nvPr/>
            </p:nvSpPr>
            <p:spPr>
              <a:xfrm>
                <a:off x="5925304" y="1944171"/>
                <a:ext cx="1485879" cy="33432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A9432123-94C7-435B-A219-6EA95A77EA60}"/>
                  </a:ext>
                </a:extLst>
              </p:cNvPr>
              <p:cNvGrpSpPr/>
              <p:nvPr/>
            </p:nvGrpSpPr>
            <p:grpSpPr>
              <a:xfrm>
                <a:off x="5703059" y="1992865"/>
                <a:ext cx="72008" cy="213550"/>
                <a:chOff x="4261108" y="2998764"/>
                <a:chExt cx="72008" cy="213550"/>
              </a:xfrm>
            </p:grpSpPr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17BF8F4C-3BE9-4E60-99B6-E1DBB8B49E93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1CF9066D-DA6C-4EA5-9416-ADA04D10F93B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C48F82D4-6F71-48F8-A9A6-204266C0672E}"/>
                  </a:ext>
                </a:extLst>
              </p:cNvPr>
              <p:cNvSpPr/>
              <p:nvPr/>
            </p:nvSpPr>
            <p:spPr>
              <a:xfrm>
                <a:off x="5641550" y="1925243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30905BD9-EF90-43BF-B673-7813582F21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0429" y="2107552"/>
                <a:ext cx="790451" cy="11808"/>
              </a:xfrm>
              <a:prstGeom prst="straightConnector1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34BA429-0124-4246-88E5-43C7CC222442}"/>
                  </a:ext>
                </a:extLst>
              </p:cNvPr>
              <p:cNvSpPr/>
              <p:nvPr/>
            </p:nvSpPr>
            <p:spPr>
              <a:xfrm>
                <a:off x="5530028" y="1645001"/>
                <a:ext cx="504056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fibres</a:t>
                </a:r>
                <a:endParaRPr lang="en-GB" sz="100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20028EBC-61C1-4630-AD8B-88B37F82AF0F}"/>
                  </a:ext>
                </a:extLst>
              </p:cNvPr>
              <p:cNvGrpSpPr/>
              <p:nvPr/>
            </p:nvGrpSpPr>
            <p:grpSpPr>
              <a:xfrm>
                <a:off x="7585837" y="2017659"/>
                <a:ext cx="72008" cy="213550"/>
                <a:chOff x="4261108" y="2998764"/>
                <a:chExt cx="72008" cy="213550"/>
              </a:xfrm>
            </p:grpSpPr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95BD9648-8CA8-48A9-BF22-57CA42FE3ADC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EC313AA4-2296-407B-A646-E32084F827B3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0207ADDF-E31B-452B-89E1-B93D0351EFD6}"/>
                  </a:ext>
                </a:extLst>
              </p:cNvPr>
              <p:cNvSpPr/>
              <p:nvPr/>
            </p:nvSpPr>
            <p:spPr>
              <a:xfrm>
                <a:off x="7524328" y="1950037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B74BC2C-2900-4E96-ADFE-0BEF37763732}"/>
              </a:ext>
            </a:extLst>
          </p:cNvPr>
          <p:cNvGrpSpPr/>
          <p:nvPr/>
        </p:nvGrpSpPr>
        <p:grpSpPr>
          <a:xfrm>
            <a:off x="5442446" y="2420888"/>
            <a:ext cx="2376264" cy="649462"/>
            <a:chOff x="5508104" y="2474962"/>
            <a:chExt cx="2376264" cy="649462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D1C7DFE-723C-4F56-8CB1-DEFEB9425042}"/>
                </a:ext>
              </a:extLst>
            </p:cNvPr>
            <p:cNvSpPr/>
            <p:nvPr/>
          </p:nvSpPr>
          <p:spPr>
            <a:xfrm>
              <a:off x="5508104" y="2860482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rgbClr val="1B9B15"/>
                  </a:solidFill>
                </a:rPr>
                <a:t>i</a:t>
              </a:r>
              <a:r>
                <a:rPr lang="en-GB" sz="1000">
                  <a:solidFill>
                    <a:srgbClr val="1B9B15"/>
                  </a:solidFill>
                </a:rPr>
                <a:t>n</a:t>
              </a:r>
            </a:p>
          </p:txBody>
        </p: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BCFF655A-15EE-41B1-AFD5-F91B1C66FEF0}"/>
                </a:ext>
              </a:extLst>
            </p:cNvPr>
            <p:cNvGrpSpPr/>
            <p:nvPr/>
          </p:nvGrpSpPr>
          <p:grpSpPr>
            <a:xfrm>
              <a:off x="5650449" y="2474962"/>
              <a:ext cx="2233919" cy="641916"/>
              <a:chOff x="5650449" y="2474962"/>
              <a:chExt cx="2233919" cy="641916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881F9071-947B-4BFA-BF1D-46E44E25063D}"/>
                  </a:ext>
                </a:extLst>
              </p:cNvPr>
              <p:cNvSpPr/>
              <p:nvPr/>
            </p:nvSpPr>
            <p:spPr>
              <a:xfrm>
                <a:off x="7380312" y="2852936"/>
                <a:ext cx="504056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rgbClr val="1B9B15"/>
                    </a:solidFill>
                  </a:rPr>
                  <a:t>out</a:t>
                </a:r>
                <a:endParaRPr lang="en-GB" sz="1000">
                  <a:solidFill>
                    <a:srgbClr val="1B9B15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40760B55-CF65-4AAF-87E9-FA88610C81CB}"/>
                  </a:ext>
                </a:extLst>
              </p:cNvPr>
              <p:cNvSpPr/>
              <p:nvPr/>
            </p:nvSpPr>
            <p:spPr>
              <a:xfrm>
                <a:off x="5935874" y="2476194"/>
                <a:ext cx="1485879" cy="33432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31C8A3C3-B9C0-4E68-917F-BEBC1FB1AC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50999" y="2639575"/>
                <a:ext cx="790451" cy="11808"/>
              </a:xfrm>
              <a:prstGeom prst="straightConnector1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3DF6F4C7-CB2D-4501-808F-A4E79741E690}"/>
                  </a:ext>
                </a:extLst>
              </p:cNvPr>
              <p:cNvGrpSpPr/>
              <p:nvPr/>
            </p:nvGrpSpPr>
            <p:grpSpPr>
              <a:xfrm>
                <a:off x="5711958" y="2542584"/>
                <a:ext cx="72008" cy="213550"/>
                <a:chOff x="4261108" y="2998764"/>
                <a:chExt cx="72008" cy="213550"/>
              </a:xfrm>
            </p:grpSpPr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05F48B8E-064A-401D-997C-FB04A11BAC46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A6857A06-D8EB-4342-9222-B59BC824501E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2E741C9F-32E0-422A-A5F3-D18091806397}"/>
                  </a:ext>
                </a:extLst>
              </p:cNvPr>
              <p:cNvSpPr/>
              <p:nvPr/>
            </p:nvSpPr>
            <p:spPr>
              <a:xfrm>
                <a:off x="5650449" y="2474962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245528BC-3F0B-4959-A902-68F2F3958A54}"/>
                  </a:ext>
                </a:extLst>
              </p:cNvPr>
              <p:cNvGrpSpPr/>
              <p:nvPr/>
            </p:nvGrpSpPr>
            <p:grpSpPr>
              <a:xfrm>
                <a:off x="7594736" y="2567378"/>
                <a:ext cx="72008" cy="213550"/>
                <a:chOff x="4261108" y="2998764"/>
                <a:chExt cx="72008" cy="213550"/>
              </a:xfrm>
            </p:grpSpPr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25F89C24-3E17-4A19-BB28-1FC4F944DCA0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A9F0CCAD-48A2-45EE-B9BC-75D08839E2E3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3E9530E1-C8B0-431B-9F8E-67631CCD1606}"/>
                  </a:ext>
                </a:extLst>
              </p:cNvPr>
              <p:cNvSpPr/>
              <p:nvPr/>
            </p:nvSpPr>
            <p:spPr>
              <a:xfrm>
                <a:off x="7524328" y="2474962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</p:grpSp>
      </p:grpSp>
      <p:sp>
        <p:nvSpPr>
          <p:cNvPr id="259" name="Rectangle 258">
            <a:extLst>
              <a:ext uri="{FF2B5EF4-FFF2-40B4-BE49-F238E27FC236}">
                <a16:creationId xmlns:a16="http://schemas.microsoft.com/office/drawing/2014/main" id="{56AF4543-F78D-421D-AC80-FB4BC19FACEF}"/>
              </a:ext>
            </a:extLst>
          </p:cNvPr>
          <p:cNvSpPr/>
          <p:nvPr/>
        </p:nvSpPr>
        <p:spPr>
          <a:xfrm>
            <a:off x="554495" y="3323806"/>
            <a:ext cx="627816" cy="2566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in:1:6</a:t>
            </a:r>
            <a:endParaRPr lang="en-GB" sz="1000">
              <a:solidFill>
                <a:schemeClr val="tx1"/>
              </a:solidFill>
            </a:endParaRPr>
          </a:p>
        </p:txBody>
      </p: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DE51DADB-CA01-491A-ACC0-2660A58219C2}"/>
              </a:ext>
            </a:extLst>
          </p:cNvPr>
          <p:cNvCxnSpPr>
            <a:cxnSpLocks/>
          </p:cNvCxnSpPr>
          <p:nvPr/>
        </p:nvCxnSpPr>
        <p:spPr>
          <a:xfrm flipV="1">
            <a:off x="4021322" y="2159200"/>
            <a:ext cx="550857" cy="10876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4CC4C950-5FDF-48D2-A2E0-7EF61E5B2701}"/>
              </a:ext>
            </a:extLst>
          </p:cNvPr>
          <p:cNvCxnSpPr>
            <a:cxnSpLocks/>
          </p:cNvCxnSpPr>
          <p:nvPr/>
        </p:nvCxnSpPr>
        <p:spPr>
          <a:xfrm>
            <a:off x="4033382" y="2301789"/>
            <a:ext cx="538797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810CAB7-8598-47B8-A13A-AECB72D1FE74}"/>
              </a:ext>
            </a:extLst>
          </p:cNvPr>
          <p:cNvCxnSpPr>
            <a:cxnSpLocks/>
          </p:cNvCxnSpPr>
          <p:nvPr/>
        </p:nvCxnSpPr>
        <p:spPr>
          <a:xfrm>
            <a:off x="4033203" y="2406693"/>
            <a:ext cx="538797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7D7CF0D-1B42-431F-BA4A-BDCBD398CA9B}"/>
              </a:ext>
            </a:extLst>
          </p:cNvPr>
          <p:cNvCxnSpPr>
            <a:cxnSpLocks/>
          </p:cNvCxnSpPr>
          <p:nvPr/>
        </p:nvCxnSpPr>
        <p:spPr>
          <a:xfrm>
            <a:off x="4046157" y="2446722"/>
            <a:ext cx="503101" cy="11284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69433E1-B7DF-4F2F-890C-08CD16178BFB}"/>
              </a:ext>
            </a:extLst>
          </p:cNvPr>
          <p:cNvSpPr/>
          <p:nvPr/>
        </p:nvSpPr>
        <p:spPr>
          <a:xfrm>
            <a:off x="1192025" y="5154022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from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6D37B54-A72F-48A9-9AAC-D9AE754A3740}"/>
              </a:ext>
            </a:extLst>
          </p:cNvPr>
          <p:cNvSpPr/>
          <p:nvPr/>
        </p:nvSpPr>
        <p:spPr>
          <a:xfrm>
            <a:off x="2158904" y="5145551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to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884DAA4-E0A8-4474-840F-63CB752DB098}"/>
              </a:ext>
            </a:extLst>
          </p:cNvPr>
          <p:cNvSpPr/>
          <p:nvPr/>
        </p:nvSpPr>
        <p:spPr>
          <a:xfrm>
            <a:off x="3399378" y="5183651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from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D75DBAF-6082-4E99-8657-5ACE0836D267}"/>
              </a:ext>
            </a:extLst>
          </p:cNvPr>
          <p:cNvSpPr/>
          <p:nvPr/>
        </p:nvSpPr>
        <p:spPr>
          <a:xfrm>
            <a:off x="4323956" y="5183651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to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85C7D83-B44E-4BCC-8341-4D3959B75F77}"/>
              </a:ext>
            </a:extLst>
          </p:cNvPr>
          <p:cNvSpPr/>
          <p:nvPr/>
        </p:nvSpPr>
        <p:spPr>
          <a:xfrm>
            <a:off x="7331078" y="3327226"/>
            <a:ext cx="627816" cy="2566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out:1:2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D249BE95-3343-4762-A53A-EE3D0E64B359}"/>
              </a:ext>
            </a:extLst>
          </p:cNvPr>
          <p:cNvSpPr/>
          <p:nvPr/>
        </p:nvSpPr>
        <p:spPr>
          <a:xfrm>
            <a:off x="2386479" y="3323804"/>
            <a:ext cx="627816" cy="2566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out:1:6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76CAC8BF-5589-4521-92F0-3D99AF01FE37}"/>
              </a:ext>
            </a:extLst>
          </p:cNvPr>
          <p:cNvSpPr/>
          <p:nvPr/>
        </p:nvSpPr>
        <p:spPr>
          <a:xfrm>
            <a:off x="3425064" y="3343278"/>
            <a:ext cx="627816" cy="2566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in:1:2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FD274DB3-0EB0-4EE9-BFF5-78F3F5992F63}"/>
              </a:ext>
            </a:extLst>
          </p:cNvPr>
          <p:cNvSpPr/>
          <p:nvPr/>
        </p:nvSpPr>
        <p:spPr>
          <a:xfrm>
            <a:off x="4490726" y="3343278"/>
            <a:ext cx="627816" cy="2566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out:1:6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BF97D47-D039-4B28-9FE8-99CF86774449}"/>
              </a:ext>
            </a:extLst>
          </p:cNvPr>
          <p:cNvSpPr/>
          <p:nvPr/>
        </p:nvSpPr>
        <p:spPr>
          <a:xfrm>
            <a:off x="5432450" y="3351898"/>
            <a:ext cx="627816" cy="2566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in:1:2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8A35FA5-E31B-4AEA-BA6D-2C7A7A340467}"/>
              </a:ext>
            </a:extLst>
          </p:cNvPr>
          <p:cNvSpPr/>
          <p:nvPr/>
        </p:nvSpPr>
        <p:spPr>
          <a:xfrm>
            <a:off x="6478586" y="5623649"/>
            <a:ext cx="1394542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Connection</a:t>
            </a:r>
            <a:br>
              <a:rPr lang="en-GB" sz="1600">
                <a:solidFill>
                  <a:schemeClr val="tx1"/>
                </a:solidFill>
              </a:rPr>
            </a:br>
            <a:r>
              <a:rPr lang="en-GB" sz="1600">
                <a:solidFill>
                  <a:schemeClr val="tx1"/>
                </a:solidFill>
              </a:rPr>
              <a:t>Records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6280CF-FB3F-44D0-911C-F317659F12E8}"/>
              </a:ext>
            </a:extLst>
          </p:cNvPr>
          <p:cNvGrpSpPr/>
          <p:nvPr/>
        </p:nvGrpSpPr>
        <p:grpSpPr>
          <a:xfrm>
            <a:off x="1041502" y="5405715"/>
            <a:ext cx="1822953" cy="385098"/>
            <a:chOff x="2256610" y="4481252"/>
            <a:chExt cx="1822953" cy="385098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BC1FF76-EA46-40CD-B0F3-DFE056F053B8}"/>
                </a:ext>
              </a:extLst>
            </p:cNvPr>
            <p:cNvSpPr/>
            <p:nvPr/>
          </p:nvSpPr>
          <p:spPr>
            <a:xfrm>
              <a:off x="2256610" y="4481252"/>
              <a:ext cx="1822953" cy="385098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67A87EC4-41C2-4088-A045-9B5912990D7E}"/>
                </a:ext>
              </a:extLst>
            </p:cNvPr>
            <p:cNvSpPr/>
            <p:nvPr/>
          </p:nvSpPr>
          <p:spPr>
            <a:xfrm>
              <a:off x="2319576" y="4531559"/>
              <a:ext cx="627816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out:2:3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C7C469A8-75E1-479B-BC17-AFDA53BFAF2D}"/>
                </a:ext>
              </a:extLst>
            </p:cNvPr>
            <p:cNvSpPr/>
            <p:nvPr/>
          </p:nvSpPr>
          <p:spPr>
            <a:xfrm>
              <a:off x="3352841" y="4536729"/>
              <a:ext cx="624587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in:1:2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0FD4A4B0-979F-4C91-BC90-35F5D0031766}"/>
                </a:ext>
              </a:extLst>
            </p:cNvPr>
            <p:cNvCxnSpPr>
              <a:cxnSpLocks/>
            </p:cNvCxnSpPr>
            <p:nvPr/>
          </p:nvCxnSpPr>
          <p:spPr>
            <a:xfrm>
              <a:off x="3014295" y="4646095"/>
              <a:ext cx="261561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F46A65-E122-4293-B335-5086B7D6CD2F}"/>
              </a:ext>
            </a:extLst>
          </p:cNvPr>
          <p:cNvGrpSpPr/>
          <p:nvPr/>
        </p:nvGrpSpPr>
        <p:grpSpPr>
          <a:xfrm>
            <a:off x="3258294" y="5421646"/>
            <a:ext cx="1737282" cy="369167"/>
            <a:chOff x="4473402" y="4497183"/>
            <a:chExt cx="1737282" cy="369167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A115F892-9D4F-42FA-978F-7E6A71A984BA}"/>
                </a:ext>
              </a:extLst>
            </p:cNvPr>
            <p:cNvSpPr/>
            <p:nvPr/>
          </p:nvSpPr>
          <p:spPr>
            <a:xfrm>
              <a:off x="4473402" y="4497183"/>
              <a:ext cx="1737282" cy="369167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D7554100-96BD-4A1F-845C-0A1B530216AC}"/>
                </a:ext>
              </a:extLst>
            </p:cNvPr>
            <p:cNvSpPr/>
            <p:nvPr/>
          </p:nvSpPr>
          <p:spPr>
            <a:xfrm>
              <a:off x="4556936" y="4540467"/>
              <a:ext cx="627816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out:1:2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1634874-2437-49E8-99A8-B2BACB64EC1C}"/>
                </a:ext>
              </a:extLst>
            </p:cNvPr>
            <p:cNvSpPr/>
            <p:nvPr/>
          </p:nvSpPr>
          <p:spPr>
            <a:xfrm>
              <a:off x="5474339" y="4540467"/>
              <a:ext cx="624587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in:1:2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E70E4E08-DD7C-4471-A85C-B39CA71493C9}"/>
                </a:ext>
              </a:extLst>
            </p:cNvPr>
            <p:cNvCxnSpPr>
              <a:cxnSpLocks/>
            </p:cNvCxnSpPr>
            <p:nvPr/>
          </p:nvCxnSpPr>
          <p:spPr>
            <a:xfrm>
              <a:off x="5212778" y="4653136"/>
              <a:ext cx="261561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0C7EAF3-2E4D-47F9-BD70-FA407F0CB23B}"/>
              </a:ext>
            </a:extLst>
          </p:cNvPr>
          <p:cNvGrpSpPr/>
          <p:nvPr/>
        </p:nvGrpSpPr>
        <p:grpSpPr>
          <a:xfrm>
            <a:off x="3267210" y="5885405"/>
            <a:ext cx="1737282" cy="369167"/>
            <a:chOff x="4473402" y="4497183"/>
            <a:chExt cx="1737282" cy="369167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0930B5CE-DA4A-43EA-9688-297BA2A7313D}"/>
                </a:ext>
              </a:extLst>
            </p:cNvPr>
            <p:cNvSpPr/>
            <p:nvPr/>
          </p:nvSpPr>
          <p:spPr>
            <a:xfrm>
              <a:off x="4473402" y="4497183"/>
              <a:ext cx="1737282" cy="369167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71263C87-05CD-4480-A88C-18E9DC2EAAAB}"/>
                </a:ext>
              </a:extLst>
            </p:cNvPr>
            <p:cNvSpPr/>
            <p:nvPr/>
          </p:nvSpPr>
          <p:spPr>
            <a:xfrm>
              <a:off x="4556936" y="4540467"/>
              <a:ext cx="627816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out:3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D8CA4638-AA28-4117-AE48-0288EC480718}"/>
                </a:ext>
              </a:extLst>
            </p:cNvPr>
            <p:cNvSpPr/>
            <p:nvPr/>
          </p:nvSpPr>
          <p:spPr>
            <a:xfrm>
              <a:off x="5474339" y="4540467"/>
              <a:ext cx="624587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in:1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8E2622AC-D41F-412F-8325-C60593AA987B}"/>
                </a:ext>
              </a:extLst>
            </p:cNvPr>
            <p:cNvCxnSpPr>
              <a:cxnSpLocks/>
            </p:cNvCxnSpPr>
            <p:nvPr/>
          </p:nvCxnSpPr>
          <p:spPr>
            <a:xfrm>
              <a:off x="5212778" y="4653136"/>
              <a:ext cx="261561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455F992-DA19-4698-9455-E3197117806B}"/>
              </a:ext>
            </a:extLst>
          </p:cNvPr>
          <p:cNvGrpSpPr/>
          <p:nvPr/>
        </p:nvGrpSpPr>
        <p:grpSpPr>
          <a:xfrm>
            <a:off x="1384569" y="3917968"/>
            <a:ext cx="5946509" cy="523290"/>
            <a:chOff x="1350636" y="3789040"/>
            <a:chExt cx="5946509" cy="523290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606D3D9F-2D81-4AD8-A488-4200EAB11638}"/>
                </a:ext>
              </a:extLst>
            </p:cNvPr>
            <p:cNvGrpSpPr/>
            <p:nvPr/>
          </p:nvGrpSpPr>
          <p:grpSpPr>
            <a:xfrm>
              <a:off x="4036476" y="3902985"/>
              <a:ext cx="576064" cy="263942"/>
              <a:chOff x="1331640" y="5973370"/>
              <a:chExt cx="576064" cy="263942"/>
            </a:xfrm>
          </p:grpSpPr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63A1B9FB-5E6D-47DD-9C79-326A48B3DD35}"/>
                  </a:ext>
                </a:extLst>
              </p:cNvPr>
              <p:cNvSpPr/>
              <p:nvPr/>
            </p:nvSpPr>
            <p:spPr>
              <a:xfrm>
                <a:off x="1331640" y="6071230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66042173-7892-4E3A-B750-8641E9F630BD}"/>
                  </a:ext>
                </a:extLst>
              </p:cNvPr>
              <p:cNvSpPr/>
              <p:nvPr/>
            </p:nvSpPr>
            <p:spPr>
              <a:xfrm>
                <a:off x="1403648" y="5973370"/>
                <a:ext cx="504056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accent1"/>
                    </a:solidFill>
                  </a:rPr>
                  <a:t>pin</a:t>
                </a:r>
                <a:endParaRPr lang="en-GB" sz="100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273FB7CF-BE5D-47FE-8780-849C1AA2C9ED}"/>
                </a:ext>
              </a:extLst>
            </p:cNvPr>
            <p:cNvGrpSpPr/>
            <p:nvPr/>
          </p:nvGrpSpPr>
          <p:grpSpPr>
            <a:xfrm>
              <a:off x="1775814" y="3917093"/>
              <a:ext cx="640522" cy="263942"/>
              <a:chOff x="2131278" y="5973370"/>
              <a:chExt cx="640522" cy="263942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47DD2CBD-6ED5-4132-BEE6-2BCEFAC4C375}"/>
                  </a:ext>
                </a:extLst>
              </p:cNvPr>
              <p:cNvSpPr/>
              <p:nvPr/>
            </p:nvSpPr>
            <p:spPr>
              <a:xfrm>
                <a:off x="2131278" y="6018841"/>
                <a:ext cx="216024" cy="173000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A913BE65-43DE-483E-B7F3-0C8A7C3012B3}"/>
                  </a:ext>
                </a:extLst>
              </p:cNvPr>
              <p:cNvSpPr/>
              <p:nvPr/>
            </p:nvSpPr>
            <p:spPr>
              <a:xfrm>
                <a:off x="2267744" y="5973370"/>
                <a:ext cx="504056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rgbClr val="1B9B15"/>
                    </a:solidFill>
                  </a:rPr>
                  <a:t>side</a:t>
                </a:r>
                <a:endParaRPr lang="en-GB" sz="1000">
                  <a:solidFill>
                    <a:srgbClr val="1B9B15"/>
                  </a:solidFill>
                </a:endParaRP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2193B22C-92CA-4CB4-8173-3807ADECFAB2}"/>
                </a:ext>
              </a:extLst>
            </p:cNvPr>
            <p:cNvGrpSpPr/>
            <p:nvPr/>
          </p:nvGrpSpPr>
          <p:grpSpPr>
            <a:xfrm>
              <a:off x="4883395" y="3902985"/>
              <a:ext cx="1045543" cy="263942"/>
              <a:chOff x="2924323" y="5973370"/>
              <a:chExt cx="1045543" cy="263942"/>
            </a:xfrm>
          </p:grpSpPr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44C86EC5-AB6F-4BB8-9593-09DF788CBC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4323" y="6105341"/>
                <a:ext cx="248228" cy="3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FC3CCBDC-2A1A-4D19-8EEC-5E8D43AF3C42}"/>
                  </a:ext>
                </a:extLst>
              </p:cNvPr>
              <p:cNvSpPr/>
              <p:nvPr/>
            </p:nvSpPr>
            <p:spPr>
              <a:xfrm>
                <a:off x="3139171" y="5973370"/>
                <a:ext cx="830695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connection</a:t>
                </a:r>
              </a:p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(modelled) </a:t>
                </a:r>
                <a:endParaRPr lang="en-GB" sz="1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8DCBEB8-0FEF-4E65-AC51-A0047BE0733A}"/>
                </a:ext>
              </a:extLst>
            </p:cNvPr>
            <p:cNvGrpSpPr/>
            <p:nvPr/>
          </p:nvGrpSpPr>
          <p:grpSpPr>
            <a:xfrm>
              <a:off x="2668760" y="3917093"/>
              <a:ext cx="1042362" cy="263942"/>
              <a:chOff x="4271111" y="6007638"/>
              <a:chExt cx="1042362" cy="263942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F494DD3E-86B8-4731-914C-A2D69AFFD090}"/>
                  </a:ext>
                </a:extLst>
              </p:cNvPr>
              <p:cNvSpPr/>
              <p:nvPr/>
            </p:nvSpPr>
            <p:spPr>
              <a:xfrm>
                <a:off x="4271111" y="6036962"/>
                <a:ext cx="504056" cy="2003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38A021DB-76FA-4FB8-82C2-D6DF309D1A72}"/>
                  </a:ext>
                </a:extLst>
              </p:cNvPr>
              <p:cNvSpPr/>
              <p:nvPr/>
            </p:nvSpPr>
            <p:spPr>
              <a:xfrm>
                <a:off x="4809417" y="6007638"/>
                <a:ext cx="504056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pin range</a:t>
                </a:r>
                <a:endParaRPr lang="en-GB" sz="1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14753A82-B448-46A3-8E5C-53FDB16ABB36}"/>
                </a:ext>
              </a:extLst>
            </p:cNvPr>
            <p:cNvGrpSpPr/>
            <p:nvPr/>
          </p:nvGrpSpPr>
          <p:grpSpPr>
            <a:xfrm>
              <a:off x="6109432" y="3917093"/>
              <a:ext cx="1045543" cy="263942"/>
              <a:chOff x="2924323" y="5973370"/>
              <a:chExt cx="1045543" cy="263942"/>
            </a:xfrm>
          </p:grpSpPr>
          <p:cxnSp>
            <p:nvCxnSpPr>
              <p:cNvPr id="261" name="Straight Arrow Connector 260">
                <a:extLst>
                  <a:ext uri="{FF2B5EF4-FFF2-40B4-BE49-F238E27FC236}">
                    <a16:creationId xmlns:a16="http://schemas.microsoft.com/office/drawing/2014/main" id="{558A2C5E-02F7-4B6D-9738-5490BBB3A7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4323" y="6105341"/>
                <a:ext cx="248228" cy="3687"/>
              </a:xfrm>
              <a:prstGeom prst="straightConnector1">
                <a:avLst/>
              </a:prstGeom>
              <a:ln>
                <a:solidFill>
                  <a:schemeClr val="accent6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5B5D9FBE-258C-4056-9F44-9797CA4AE1BB}"/>
                  </a:ext>
                </a:extLst>
              </p:cNvPr>
              <p:cNvSpPr/>
              <p:nvPr/>
            </p:nvSpPr>
            <p:spPr>
              <a:xfrm>
                <a:off x="3139171" y="5973370"/>
                <a:ext cx="830695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connection</a:t>
                </a:r>
              </a:p>
              <a:p>
                <a:pPr algn="ctr"/>
                <a:r>
                  <a:rPr lang="en-US" sz="1000">
                    <a:solidFill>
                      <a:schemeClr val="tx1"/>
                    </a:solidFill>
                  </a:rPr>
                  <a:t>(implicit) </a:t>
                </a:r>
                <a:endParaRPr lang="en-GB" sz="1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F2B222-B79C-43B1-9041-E87408879353}"/>
                </a:ext>
              </a:extLst>
            </p:cNvPr>
            <p:cNvSpPr/>
            <p:nvPr/>
          </p:nvSpPr>
          <p:spPr>
            <a:xfrm>
              <a:off x="1350636" y="3789040"/>
              <a:ext cx="5946509" cy="5232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4541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3" grpId="0" animBg="1"/>
      <p:bldP spid="102" grpId="0"/>
      <p:bldP spid="128" grpId="0"/>
      <p:bldP spid="151" grpId="0"/>
      <p:bldP spid="152" grpId="0"/>
      <p:bldP spid="179" grpId="0"/>
      <p:bldP spid="259" grpId="0" animBg="1"/>
      <p:bldP spid="180" grpId="0"/>
      <p:bldP spid="182" grpId="0"/>
      <p:bldP spid="183" grpId="0"/>
      <p:bldP spid="184" grpId="0"/>
      <p:bldP spid="190" grpId="0" animBg="1"/>
      <p:bldP spid="210" grpId="0" animBg="1"/>
      <p:bldP spid="211" grpId="0" animBg="1"/>
      <p:bldP spid="212" grpId="0" animBg="1"/>
      <p:bldP spid="219" grpId="0" animBg="1"/>
      <p:bldP spid="2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6D571FDE-6A19-4ABA-8BB4-4BBD3C8AD6DB}"/>
              </a:ext>
            </a:extLst>
          </p:cNvPr>
          <p:cNvSpPr/>
          <p:nvPr/>
        </p:nvSpPr>
        <p:spPr>
          <a:xfrm>
            <a:off x="4057753" y="3072642"/>
            <a:ext cx="929328" cy="239159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Connectivity Model (Splice)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0745" y="3212710"/>
            <a:ext cx="1499947" cy="33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62656" y="2221403"/>
            <a:ext cx="1224136" cy="37660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0070C0"/>
                </a:solidFill>
              </a:rPr>
              <a:t>Connection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EB1C72-A7B1-42CC-B860-583BAEF1A890}"/>
              </a:ext>
            </a:extLst>
          </p:cNvPr>
          <p:cNvGrpSpPr/>
          <p:nvPr/>
        </p:nvGrpSpPr>
        <p:grpSpPr>
          <a:xfrm>
            <a:off x="3384709" y="2997830"/>
            <a:ext cx="72008" cy="755155"/>
            <a:chOff x="3131840" y="2688729"/>
            <a:chExt cx="72008" cy="755155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D794189-6DF6-49C7-8DA3-034F46061A26}"/>
                </a:ext>
              </a:extLst>
            </p:cNvPr>
            <p:cNvGrpSpPr/>
            <p:nvPr/>
          </p:nvGrpSpPr>
          <p:grpSpPr>
            <a:xfrm>
              <a:off x="3131840" y="2968404"/>
              <a:ext cx="72008" cy="475480"/>
              <a:chOff x="4535996" y="3702744"/>
              <a:chExt cx="72008" cy="475480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CC5710E-2908-4A80-A152-86745D1619EC}"/>
                  </a:ext>
                </a:extLst>
              </p:cNvPr>
              <p:cNvSpPr/>
              <p:nvPr/>
            </p:nvSpPr>
            <p:spPr>
              <a:xfrm>
                <a:off x="4535996" y="3833709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BE7C0F5-8582-494B-8D46-CC7AE66CFC54}"/>
                  </a:ext>
                </a:extLst>
              </p:cNvPr>
              <p:cNvSpPr/>
              <p:nvPr/>
            </p:nvSpPr>
            <p:spPr>
              <a:xfrm>
                <a:off x="4535996" y="370274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CA72074-9096-4131-8DDB-1C66BA044ADF}"/>
                  </a:ext>
                </a:extLst>
              </p:cNvPr>
              <p:cNvSpPr/>
              <p:nvPr/>
            </p:nvSpPr>
            <p:spPr>
              <a:xfrm>
                <a:off x="4535996" y="410621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078E2A2-DBE3-4703-9482-BE6832830EC2}"/>
                  </a:ext>
                </a:extLst>
              </p:cNvPr>
              <p:cNvSpPr/>
              <p:nvPr/>
            </p:nvSpPr>
            <p:spPr>
              <a:xfrm>
                <a:off x="4535996" y="3975251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20A2DA8-5F2D-45F2-BA8F-1610FD96E83C}"/>
                </a:ext>
              </a:extLst>
            </p:cNvPr>
            <p:cNvGrpSpPr/>
            <p:nvPr/>
          </p:nvGrpSpPr>
          <p:grpSpPr>
            <a:xfrm>
              <a:off x="3131840" y="2688729"/>
              <a:ext cx="72008" cy="213550"/>
              <a:chOff x="4261108" y="2998764"/>
              <a:chExt cx="72008" cy="21355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AD90188A-E735-46B6-B4BA-1E906B01321C}"/>
                  </a:ext>
                </a:extLst>
              </p:cNvPr>
              <p:cNvSpPr/>
              <p:nvPr/>
            </p:nvSpPr>
            <p:spPr>
              <a:xfrm>
                <a:off x="4261108" y="299876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5052F3CF-9B92-4A65-819D-410AE7D2E084}"/>
                  </a:ext>
                </a:extLst>
              </p:cNvPr>
              <p:cNvSpPr/>
              <p:nvPr/>
            </p:nvSpPr>
            <p:spPr>
              <a:xfrm>
                <a:off x="4261108" y="314030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45B852E-FEFC-40BA-8484-C1D851EE4750}"/>
              </a:ext>
            </a:extLst>
          </p:cNvPr>
          <p:cNvGrpSpPr/>
          <p:nvPr/>
        </p:nvGrpSpPr>
        <p:grpSpPr>
          <a:xfrm>
            <a:off x="1527741" y="3006973"/>
            <a:ext cx="72008" cy="755155"/>
            <a:chOff x="3131840" y="2688729"/>
            <a:chExt cx="72008" cy="755155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3122AB4-3091-4F56-B0F6-B56C3E5C6B8D}"/>
                </a:ext>
              </a:extLst>
            </p:cNvPr>
            <p:cNvGrpSpPr/>
            <p:nvPr/>
          </p:nvGrpSpPr>
          <p:grpSpPr>
            <a:xfrm>
              <a:off x="3131840" y="2968404"/>
              <a:ext cx="72008" cy="475480"/>
              <a:chOff x="4535996" y="3702744"/>
              <a:chExt cx="72008" cy="475480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A37E08F4-8D22-4FB0-9D62-03EEC58150A1}"/>
                  </a:ext>
                </a:extLst>
              </p:cNvPr>
              <p:cNvSpPr/>
              <p:nvPr/>
            </p:nvSpPr>
            <p:spPr>
              <a:xfrm>
                <a:off x="4535996" y="3833709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F577932-E146-484A-B048-25CAB360A5DD}"/>
                  </a:ext>
                </a:extLst>
              </p:cNvPr>
              <p:cNvSpPr/>
              <p:nvPr/>
            </p:nvSpPr>
            <p:spPr>
              <a:xfrm>
                <a:off x="4535996" y="370274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67062802-B6D3-404F-AEB7-B2C1A3844891}"/>
                  </a:ext>
                </a:extLst>
              </p:cNvPr>
              <p:cNvSpPr/>
              <p:nvPr/>
            </p:nvSpPr>
            <p:spPr>
              <a:xfrm>
                <a:off x="4535996" y="410621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E89DD68-2F35-4C17-9115-8FA917988881}"/>
                  </a:ext>
                </a:extLst>
              </p:cNvPr>
              <p:cNvSpPr/>
              <p:nvPr/>
            </p:nvSpPr>
            <p:spPr>
              <a:xfrm>
                <a:off x="4535996" y="3975251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EB2FA81-D92E-4D1F-9758-B4E710D3B54D}"/>
                </a:ext>
              </a:extLst>
            </p:cNvPr>
            <p:cNvGrpSpPr/>
            <p:nvPr/>
          </p:nvGrpSpPr>
          <p:grpSpPr>
            <a:xfrm>
              <a:off x="3131840" y="2688729"/>
              <a:ext cx="72008" cy="213550"/>
              <a:chOff x="4261108" y="2998764"/>
              <a:chExt cx="72008" cy="213550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ABCF0EA0-1EBB-44B0-8AE9-C9E5A0CC2BBD}"/>
                  </a:ext>
                </a:extLst>
              </p:cNvPr>
              <p:cNvSpPr/>
              <p:nvPr/>
            </p:nvSpPr>
            <p:spPr>
              <a:xfrm>
                <a:off x="4261108" y="2998764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BB8B825-F89E-4D1A-A020-DC65FF89A0F7}"/>
                  </a:ext>
                </a:extLst>
              </p:cNvPr>
              <p:cNvSpPr/>
              <p:nvPr/>
            </p:nvSpPr>
            <p:spPr>
              <a:xfrm>
                <a:off x="4261108" y="314030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09B0236-4872-4D72-8216-D73608EB49AF}"/>
              </a:ext>
            </a:extLst>
          </p:cNvPr>
          <p:cNvGrpSpPr/>
          <p:nvPr/>
        </p:nvGrpSpPr>
        <p:grpSpPr>
          <a:xfrm>
            <a:off x="1293693" y="2912105"/>
            <a:ext cx="504056" cy="1166055"/>
            <a:chOff x="593536" y="1840505"/>
            <a:chExt cx="504056" cy="116605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248A758-31FD-4CE4-ADB5-264BE3AAF981}"/>
                </a:ext>
              </a:extLst>
            </p:cNvPr>
            <p:cNvSpPr/>
            <p:nvPr/>
          </p:nvSpPr>
          <p:spPr>
            <a:xfrm>
              <a:off x="755576" y="1840505"/>
              <a:ext cx="216024" cy="935746"/>
            </a:xfrm>
            <a:prstGeom prst="rect">
              <a:avLst/>
            </a:prstGeom>
            <a:noFill/>
            <a:ln w="15875">
              <a:solidFill>
                <a:srgbClr val="1B9B15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1B9B15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78507F4-7BF1-448B-AC94-79DC49201C3F}"/>
                </a:ext>
              </a:extLst>
            </p:cNvPr>
            <p:cNvSpPr/>
            <p:nvPr/>
          </p:nvSpPr>
          <p:spPr>
            <a:xfrm>
              <a:off x="593536" y="2742618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rgbClr val="1B9B15"/>
                  </a:solidFill>
                </a:rPr>
                <a:t>i</a:t>
              </a:r>
              <a:r>
                <a:rPr lang="en-GB" sz="1000">
                  <a:solidFill>
                    <a:srgbClr val="1B9B15"/>
                  </a:solidFill>
                </a:rPr>
                <a:t>n</a:t>
              </a: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1EEA30E0-FB3D-44E1-B00F-14CB9778E3D3}"/>
              </a:ext>
            </a:extLst>
          </p:cNvPr>
          <p:cNvGrpSpPr/>
          <p:nvPr/>
        </p:nvGrpSpPr>
        <p:grpSpPr>
          <a:xfrm>
            <a:off x="3178357" y="2902962"/>
            <a:ext cx="504056" cy="1164563"/>
            <a:chOff x="2478200" y="1831362"/>
            <a:chExt cx="504056" cy="1164563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7887C5B-F6A6-4F94-BF5D-60A79A3AF07D}"/>
                </a:ext>
              </a:extLst>
            </p:cNvPr>
            <p:cNvSpPr/>
            <p:nvPr/>
          </p:nvSpPr>
          <p:spPr>
            <a:xfrm>
              <a:off x="2612544" y="1831362"/>
              <a:ext cx="216024" cy="935746"/>
            </a:xfrm>
            <a:prstGeom prst="rect">
              <a:avLst/>
            </a:prstGeom>
            <a:noFill/>
            <a:ln w="15875">
              <a:solidFill>
                <a:srgbClr val="1B9B15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1B9B15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F48435D-6518-4DB4-BC96-1EB3DCCF3A68}"/>
                </a:ext>
              </a:extLst>
            </p:cNvPr>
            <p:cNvSpPr/>
            <p:nvPr/>
          </p:nvSpPr>
          <p:spPr>
            <a:xfrm>
              <a:off x="2478200" y="2731983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rgbClr val="1B9B15"/>
                  </a:solidFill>
                </a:rPr>
                <a:t>out</a:t>
              </a:r>
              <a:endParaRPr lang="en-GB" sz="1000">
                <a:solidFill>
                  <a:srgbClr val="1B9B15"/>
                </a:solidFill>
              </a:endParaRPr>
            </a:p>
          </p:txBody>
        </p:sp>
      </p:grp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14C960-4207-42FB-88FF-B71D6930E172}"/>
              </a:ext>
            </a:extLst>
          </p:cNvPr>
          <p:cNvSpPr/>
          <p:nvPr/>
        </p:nvSpPr>
        <p:spPr>
          <a:xfrm>
            <a:off x="3184077" y="2630012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577D997-E583-4CA6-871C-B7D0E91117A5}"/>
              </a:ext>
            </a:extLst>
          </p:cNvPr>
          <p:cNvSpPr/>
          <p:nvPr/>
        </p:nvSpPr>
        <p:spPr>
          <a:xfrm>
            <a:off x="1311717" y="2652482"/>
            <a:ext cx="504056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52FBED-8794-45F0-AB10-172060B4B590}"/>
              </a:ext>
            </a:extLst>
          </p:cNvPr>
          <p:cNvCxnSpPr>
            <a:cxnSpLocks/>
          </p:cNvCxnSpPr>
          <p:nvPr/>
        </p:nvCxnSpPr>
        <p:spPr>
          <a:xfrm flipV="1">
            <a:off x="2050793" y="3381725"/>
            <a:ext cx="902478" cy="8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224E4338-B98D-4CD6-9AE3-331C7C563DB8}"/>
              </a:ext>
            </a:extLst>
          </p:cNvPr>
          <p:cNvGrpSpPr/>
          <p:nvPr/>
        </p:nvGrpSpPr>
        <p:grpSpPr>
          <a:xfrm>
            <a:off x="5255899" y="2660973"/>
            <a:ext cx="2336831" cy="699211"/>
            <a:chOff x="5530028" y="1628800"/>
            <a:chExt cx="2336831" cy="699211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C7FC586-E46E-46CD-B744-D2A5EE925233}"/>
                </a:ext>
              </a:extLst>
            </p:cNvPr>
            <p:cNvSpPr/>
            <p:nvPr/>
          </p:nvSpPr>
          <p:spPr>
            <a:xfrm>
              <a:off x="7362803" y="1628800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CF647C8D-2547-4138-83B9-4677A6122EA4}"/>
                </a:ext>
              </a:extLst>
            </p:cNvPr>
            <p:cNvGrpSpPr/>
            <p:nvPr/>
          </p:nvGrpSpPr>
          <p:grpSpPr>
            <a:xfrm>
              <a:off x="5530028" y="1645001"/>
              <a:ext cx="2210324" cy="683010"/>
              <a:chOff x="5530028" y="1645001"/>
              <a:chExt cx="2210324" cy="68301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8F1D9836-347F-4675-BC9A-1F68954F83E3}"/>
                  </a:ext>
                </a:extLst>
              </p:cNvPr>
              <p:cNvSpPr/>
              <p:nvPr/>
            </p:nvSpPr>
            <p:spPr>
              <a:xfrm>
                <a:off x="5925304" y="1944171"/>
                <a:ext cx="1485879" cy="33432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A9432123-94C7-435B-A219-6EA95A77EA60}"/>
                  </a:ext>
                </a:extLst>
              </p:cNvPr>
              <p:cNvGrpSpPr/>
              <p:nvPr/>
            </p:nvGrpSpPr>
            <p:grpSpPr>
              <a:xfrm>
                <a:off x="5703059" y="1992865"/>
                <a:ext cx="72008" cy="213550"/>
                <a:chOff x="4261108" y="2998764"/>
                <a:chExt cx="72008" cy="213550"/>
              </a:xfrm>
            </p:grpSpPr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17BF8F4C-3BE9-4E60-99B6-E1DBB8B49E93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1CF9066D-DA6C-4EA5-9416-ADA04D10F93B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C48F82D4-6F71-48F8-A9A6-204266C0672E}"/>
                  </a:ext>
                </a:extLst>
              </p:cNvPr>
              <p:cNvSpPr/>
              <p:nvPr/>
            </p:nvSpPr>
            <p:spPr>
              <a:xfrm>
                <a:off x="5641550" y="1925243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30905BD9-EF90-43BF-B673-7813582F21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0429" y="2107552"/>
                <a:ext cx="790451" cy="118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34BA429-0124-4246-88E5-43C7CC222442}"/>
                  </a:ext>
                </a:extLst>
              </p:cNvPr>
              <p:cNvSpPr/>
              <p:nvPr/>
            </p:nvSpPr>
            <p:spPr>
              <a:xfrm>
                <a:off x="5530028" y="1645001"/>
                <a:ext cx="504056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20028EBC-61C1-4630-AD8B-88B37F82AF0F}"/>
                  </a:ext>
                </a:extLst>
              </p:cNvPr>
              <p:cNvGrpSpPr/>
              <p:nvPr/>
            </p:nvGrpSpPr>
            <p:grpSpPr>
              <a:xfrm>
                <a:off x="7585837" y="2017659"/>
                <a:ext cx="72008" cy="213550"/>
                <a:chOff x="4261108" y="2998764"/>
                <a:chExt cx="72008" cy="213550"/>
              </a:xfrm>
            </p:grpSpPr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95BD9648-8CA8-48A9-BF22-57CA42FE3ADC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EC313AA4-2296-407B-A646-E32084F827B3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0207ADDF-E31B-452B-89E1-B93D0351EFD6}"/>
                  </a:ext>
                </a:extLst>
              </p:cNvPr>
              <p:cNvSpPr/>
              <p:nvPr/>
            </p:nvSpPr>
            <p:spPr>
              <a:xfrm>
                <a:off x="7524328" y="1950037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B74BC2C-2900-4E96-ADFE-0BEF37763732}"/>
              </a:ext>
            </a:extLst>
          </p:cNvPr>
          <p:cNvGrpSpPr/>
          <p:nvPr/>
        </p:nvGrpSpPr>
        <p:grpSpPr>
          <a:xfrm>
            <a:off x="5233975" y="3507135"/>
            <a:ext cx="2376264" cy="649462"/>
            <a:chOff x="5508104" y="2474962"/>
            <a:chExt cx="2376264" cy="649462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D1C7DFE-723C-4F56-8CB1-DEFEB9425042}"/>
                </a:ext>
              </a:extLst>
            </p:cNvPr>
            <p:cNvSpPr/>
            <p:nvPr/>
          </p:nvSpPr>
          <p:spPr>
            <a:xfrm>
              <a:off x="5508104" y="2860482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rgbClr val="1B9B15"/>
                  </a:solidFill>
                </a:rPr>
                <a:t>i</a:t>
              </a:r>
              <a:r>
                <a:rPr lang="en-GB" sz="1000">
                  <a:solidFill>
                    <a:srgbClr val="1B9B15"/>
                  </a:solidFill>
                </a:rPr>
                <a:t>n</a:t>
              </a:r>
            </a:p>
          </p:txBody>
        </p: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BCFF655A-15EE-41B1-AFD5-F91B1C66FEF0}"/>
                </a:ext>
              </a:extLst>
            </p:cNvPr>
            <p:cNvGrpSpPr/>
            <p:nvPr/>
          </p:nvGrpSpPr>
          <p:grpSpPr>
            <a:xfrm>
              <a:off x="5650449" y="2474962"/>
              <a:ext cx="2233919" cy="641916"/>
              <a:chOff x="5650449" y="2474962"/>
              <a:chExt cx="2233919" cy="641916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881F9071-947B-4BFA-BF1D-46E44E25063D}"/>
                  </a:ext>
                </a:extLst>
              </p:cNvPr>
              <p:cNvSpPr/>
              <p:nvPr/>
            </p:nvSpPr>
            <p:spPr>
              <a:xfrm>
                <a:off x="7380312" y="2852936"/>
                <a:ext cx="504056" cy="263942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>
                    <a:solidFill>
                      <a:srgbClr val="1B9B15"/>
                    </a:solidFill>
                  </a:rPr>
                  <a:t>out</a:t>
                </a:r>
                <a:endParaRPr lang="en-GB" sz="1000">
                  <a:solidFill>
                    <a:srgbClr val="1B9B15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40760B55-CF65-4AAF-87E9-FA88610C81CB}"/>
                  </a:ext>
                </a:extLst>
              </p:cNvPr>
              <p:cNvSpPr/>
              <p:nvPr/>
            </p:nvSpPr>
            <p:spPr>
              <a:xfrm>
                <a:off x="5935874" y="2476194"/>
                <a:ext cx="1485879" cy="33432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31C8A3C3-B9C0-4E68-917F-BEBC1FB1AC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50999" y="2639575"/>
                <a:ext cx="790451" cy="118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3DF6F4C7-CB2D-4501-808F-A4E79741E690}"/>
                  </a:ext>
                </a:extLst>
              </p:cNvPr>
              <p:cNvGrpSpPr/>
              <p:nvPr/>
            </p:nvGrpSpPr>
            <p:grpSpPr>
              <a:xfrm>
                <a:off x="5711958" y="2542584"/>
                <a:ext cx="72008" cy="213550"/>
                <a:chOff x="4261108" y="2998764"/>
                <a:chExt cx="72008" cy="213550"/>
              </a:xfrm>
            </p:grpSpPr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05F48B8E-064A-401D-997C-FB04A11BAC46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A6857A06-D8EB-4342-9222-B59BC824501E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2E741C9F-32E0-422A-A5F3-D18091806397}"/>
                  </a:ext>
                </a:extLst>
              </p:cNvPr>
              <p:cNvSpPr/>
              <p:nvPr/>
            </p:nvSpPr>
            <p:spPr>
              <a:xfrm>
                <a:off x="5650449" y="2474962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245528BC-3F0B-4959-A902-68F2F3958A54}"/>
                  </a:ext>
                </a:extLst>
              </p:cNvPr>
              <p:cNvGrpSpPr/>
              <p:nvPr/>
            </p:nvGrpSpPr>
            <p:grpSpPr>
              <a:xfrm>
                <a:off x="7594736" y="2567378"/>
                <a:ext cx="72008" cy="213550"/>
                <a:chOff x="4261108" y="2998764"/>
                <a:chExt cx="72008" cy="213550"/>
              </a:xfrm>
            </p:grpSpPr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25F89C24-3E17-4A19-BB28-1FC4F944DCA0}"/>
                    </a:ext>
                  </a:extLst>
                </p:cNvPr>
                <p:cNvSpPr/>
                <p:nvPr/>
              </p:nvSpPr>
              <p:spPr>
                <a:xfrm>
                  <a:off x="4261108" y="2998764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A9F0CCAD-48A2-45EE-B9BC-75D08839E2E3}"/>
                    </a:ext>
                  </a:extLst>
                </p:cNvPr>
                <p:cNvSpPr/>
                <p:nvPr/>
              </p:nvSpPr>
              <p:spPr>
                <a:xfrm>
                  <a:off x="4261108" y="3140306"/>
                  <a:ext cx="72008" cy="72008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3E9530E1-C8B0-431B-9F8E-67631CCD1606}"/>
                  </a:ext>
                </a:extLst>
              </p:cNvPr>
              <p:cNvSpPr/>
              <p:nvPr/>
            </p:nvSpPr>
            <p:spPr>
              <a:xfrm>
                <a:off x="7524328" y="2474962"/>
                <a:ext cx="216024" cy="377974"/>
              </a:xfrm>
              <a:prstGeom prst="rect">
                <a:avLst/>
              </a:prstGeom>
              <a:noFill/>
              <a:ln w="15875">
                <a:solidFill>
                  <a:srgbClr val="1B9B15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1B9B15"/>
                  </a:solidFill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A433300-D1F4-477C-9531-69C4D87BF968}"/>
              </a:ext>
            </a:extLst>
          </p:cNvPr>
          <p:cNvSpPr/>
          <p:nvPr/>
        </p:nvSpPr>
        <p:spPr>
          <a:xfrm>
            <a:off x="1107408" y="4562831"/>
            <a:ext cx="6929184" cy="1216383"/>
          </a:xfrm>
          <a:prstGeom prst="rect">
            <a:avLst/>
          </a:prstGeom>
          <a:noFill/>
          <a:ln w="12700">
            <a:noFill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Splice is modelled as a fiber connection record between two segments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4155AF-5C77-4EDE-ABA9-0346A1BE7DF0}"/>
              </a:ext>
            </a:extLst>
          </p:cNvPr>
          <p:cNvSpPr/>
          <p:nvPr/>
        </p:nvSpPr>
        <p:spPr>
          <a:xfrm>
            <a:off x="3618690" y="3049832"/>
            <a:ext cx="1712068" cy="109328"/>
          </a:xfrm>
          <a:custGeom>
            <a:avLst/>
            <a:gdLst>
              <a:gd name="connsiteX0" fmla="*/ 0 w 1768751"/>
              <a:gd name="connsiteY0" fmla="*/ 134928 h 134928"/>
              <a:gd name="connsiteX1" fmla="*/ 1060315 w 1768751"/>
              <a:gd name="connsiteY1" fmla="*/ 125200 h 134928"/>
              <a:gd name="connsiteX2" fmla="*/ 1712068 w 1768751"/>
              <a:gd name="connsiteY2" fmla="*/ 8469 h 134928"/>
              <a:gd name="connsiteX3" fmla="*/ 1692613 w 1768751"/>
              <a:gd name="connsiteY3" fmla="*/ 18196 h 134928"/>
              <a:gd name="connsiteX0" fmla="*/ 0 w 2072196"/>
              <a:gd name="connsiteY0" fmla="*/ 1050771 h 1050771"/>
              <a:gd name="connsiteX1" fmla="*/ 1060315 w 2072196"/>
              <a:gd name="connsiteY1" fmla="*/ 1041043 h 1050771"/>
              <a:gd name="connsiteX2" fmla="*/ 1712068 w 2072196"/>
              <a:gd name="connsiteY2" fmla="*/ 924312 h 1050771"/>
              <a:gd name="connsiteX3" fmla="*/ 2062264 w 2072196"/>
              <a:gd name="connsiteY3" fmla="*/ 183 h 1050771"/>
              <a:gd name="connsiteX0" fmla="*/ 0 w 1712068"/>
              <a:gd name="connsiteY0" fmla="*/ 126459 h 126459"/>
              <a:gd name="connsiteX1" fmla="*/ 1060315 w 1712068"/>
              <a:gd name="connsiteY1" fmla="*/ 116731 h 126459"/>
              <a:gd name="connsiteX2" fmla="*/ 1712068 w 1712068"/>
              <a:gd name="connsiteY2" fmla="*/ 0 h 126459"/>
              <a:gd name="connsiteX0" fmla="*/ 0 w 1712068"/>
              <a:gd name="connsiteY0" fmla="*/ 126459 h 155641"/>
              <a:gd name="connsiteX1" fmla="*/ 953311 w 1712068"/>
              <a:gd name="connsiteY1" fmla="*/ 155641 h 155641"/>
              <a:gd name="connsiteX2" fmla="*/ 1712068 w 1712068"/>
              <a:gd name="connsiteY2" fmla="*/ 0 h 155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2068" h="155641">
                <a:moveTo>
                  <a:pt x="0" y="126459"/>
                </a:moveTo>
                <a:lnTo>
                  <a:pt x="953311" y="155641"/>
                </a:lnTo>
                <a:cubicBezTo>
                  <a:pt x="1238656" y="134565"/>
                  <a:pt x="1545077" y="173477"/>
                  <a:pt x="1712068" y="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DB5C998C-AF85-452D-B252-451D0C84F658}"/>
              </a:ext>
            </a:extLst>
          </p:cNvPr>
          <p:cNvSpPr/>
          <p:nvPr/>
        </p:nvSpPr>
        <p:spPr>
          <a:xfrm>
            <a:off x="3634355" y="3135072"/>
            <a:ext cx="1712068" cy="109328"/>
          </a:xfrm>
          <a:custGeom>
            <a:avLst/>
            <a:gdLst>
              <a:gd name="connsiteX0" fmla="*/ 0 w 1768751"/>
              <a:gd name="connsiteY0" fmla="*/ 134928 h 134928"/>
              <a:gd name="connsiteX1" fmla="*/ 1060315 w 1768751"/>
              <a:gd name="connsiteY1" fmla="*/ 125200 h 134928"/>
              <a:gd name="connsiteX2" fmla="*/ 1712068 w 1768751"/>
              <a:gd name="connsiteY2" fmla="*/ 8469 h 134928"/>
              <a:gd name="connsiteX3" fmla="*/ 1692613 w 1768751"/>
              <a:gd name="connsiteY3" fmla="*/ 18196 h 134928"/>
              <a:gd name="connsiteX0" fmla="*/ 0 w 2072196"/>
              <a:gd name="connsiteY0" fmla="*/ 1050771 h 1050771"/>
              <a:gd name="connsiteX1" fmla="*/ 1060315 w 2072196"/>
              <a:gd name="connsiteY1" fmla="*/ 1041043 h 1050771"/>
              <a:gd name="connsiteX2" fmla="*/ 1712068 w 2072196"/>
              <a:gd name="connsiteY2" fmla="*/ 924312 h 1050771"/>
              <a:gd name="connsiteX3" fmla="*/ 2062264 w 2072196"/>
              <a:gd name="connsiteY3" fmla="*/ 183 h 1050771"/>
              <a:gd name="connsiteX0" fmla="*/ 0 w 1712068"/>
              <a:gd name="connsiteY0" fmla="*/ 126459 h 126459"/>
              <a:gd name="connsiteX1" fmla="*/ 1060315 w 1712068"/>
              <a:gd name="connsiteY1" fmla="*/ 116731 h 126459"/>
              <a:gd name="connsiteX2" fmla="*/ 1712068 w 1712068"/>
              <a:gd name="connsiteY2" fmla="*/ 0 h 126459"/>
              <a:gd name="connsiteX0" fmla="*/ 0 w 1712068"/>
              <a:gd name="connsiteY0" fmla="*/ 126459 h 155641"/>
              <a:gd name="connsiteX1" fmla="*/ 953311 w 1712068"/>
              <a:gd name="connsiteY1" fmla="*/ 155641 h 155641"/>
              <a:gd name="connsiteX2" fmla="*/ 1712068 w 1712068"/>
              <a:gd name="connsiteY2" fmla="*/ 0 h 155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2068" h="155641">
                <a:moveTo>
                  <a:pt x="0" y="126459"/>
                </a:moveTo>
                <a:lnTo>
                  <a:pt x="953311" y="155641"/>
                </a:lnTo>
                <a:cubicBezTo>
                  <a:pt x="1238656" y="134565"/>
                  <a:pt x="1545077" y="173477"/>
                  <a:pt x="1712068" y="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5744E309-14AD-4574-BD47-2EB40C2182D6}"/>
              </a:ext>
            </a:extLst>
          </p:cNvPr>
          <p:cNvSpPr/>
          <p:nvPr/>
        </p:nvSpPr>
        <p:spPr>
          <a:xfrm flipV="1">
            <a:off x="3631300" y="3581833"/>
            <a:ext cx="1699458" cy="45865"/>
          </a:xfrm>
          <a:custGeom>
            <a:avLst/>
            <a:gdLst>
              <a:gd name="connsiteX0" fmla="*/ 0 w 1768751"/>
              <a:gd name="connsiteY0" fmla="*/ 134928 h 134928"/>
              <a:gd name="connsiteX1" fmla="*/ 1060315 w 1768751"/>
              <a:gd name="connsiteY1" fmla="*/ 125200 h 134928"/>
              <a:gd name="connsiteX2" fmla="*/ 1712068 w 1768751"/>
              <a:gd name="connsiteY2" fmla="*/ 8469 h 134928"/>
              <a:gd name="connsiteX3" fmla="*/ 1692613 w 1768751"/>
              <a:gd name="connsiteY3" fmla="*/ 18196 h 134928"/>
              <a:gd name="connsiteX0" fmla="*/ 0 w 2072196"/>
              <a:gd name="connsiteY0" fmla="*/ 1050771 h 1050771"/>
              <a:gd name="connsiteX1" fmla="*/ 1060315 w 2072196"/>
              <a:gd name="connsiteY1" fmla="*/ 1041043 h 1050771"/>
              <a:gd name="connsiteX2" fmla="*/ 1712068 w 2072196"/>
              <a:gd name="connsiteY2" fmla="*/ 924312 h 1050771"/>
              <a:gd name="connsiteX3" fmla="*/ 2062264 w 2072196"/>
              <a:gd name="connsiteY3" fmla="*/ 183 h 1050771"/>
              <a:gd name="connsiteX0" fmla="*/ 0 w 1712068"/>
              <a:gd name="connsiteY0" fmla="*/ 126459 h 126459"/>
              <a:gd name="connsiteX1" fmla="*/ 1060315 w 1712068"/>
              <a:gd name="connsiteY1" fmla="*/ 116731 h 126459"/>
              <a:gd name="connsiteX2" fmla="*/ 1712068 w 1712068"/>
              <a:gd name="connsiteY2" fmla="*/ 0 h 126459"/>
              <a:gd name="connsiteX0" fmla="*/ 0 w 1712068"/>
              <a:gd name="connsiteY0" fmla="*/ 126459 h 155641"/>
              <a:gd name="connsiteX1" fmla="*/ 953311 w 1712068"/>
              <a:gd name="connsiteY1" fmla="*/ 155641 h 155641"/>
              <a:gd name="connsiteX2" fmla="*/ 1712068 w 1712068"/>
              <a:gd name="connsiteY2" fmla="*/ 0 h 155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2068" h="155641">
                <a:moveTo>
                  <a:pt x="0" y="126459"/>
                </a:moveTo>
                <a:lnTo>
                  <a:pt x="953311" y="155641"/>
                </a:lnTo>
                <a:cubicBezTo>
                  <a:pt x="1238656" y="134565"/>
                  <a:pt x="1545077" y="173477"/>
                  <a:pt x="1712068" y="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C9CE98A5-DBFB-40F3-B1B4-C74C1E482210}"/>
              </a:ext>
            </a:extLst>
          </p:cNvPr>
          <p:cNvSpPr/>
          <p:nvPr/>
        </p:nvSpPr>
        <p:spPr>
          <a:xfrm flipV="1">
            <a:off x="3631300" y="3670215"/>
            <a:ext cx="1699458" cy="45865"/>
          </a:xfrm>
          <a:custGeom>
            <a:avLst/>
            <a:gdLst>
              <a:gd name="connsiteX0" fmla="*/ 0 w 1768751"/>
              <a:gd name="connsiteY0" fmla="*/ 134928 h 134928"/>
              <a:gd name="connsiteX1" fmla="*/ 1060315 w 1768751"/>
              <a:gd name="connsiteY1" fmla="*/ 125200 h 134928"/>
              <a:gd name="connsiteX2" fmla="*/ 1712068 w 1768751"/>
              <a:gd name="connsiteY2" fmla="*/ 8469 h 134928"/>
              <a:gd name="connsiteX3" fmla="*/ 1692613 w 1768751"/>
              <a:gd name="connsiteY3" fmla="*/ 18196 h 134928"/>
              <a:gd name="connsiteX0" fmla="*/ 0 w 2072196"/>
              <a:gd name="connsiteY0" fmla="*/ 1050771 h 1050771"/>
              <a:gd name="connsiteX1" fmla="*/ 1060315 w 2072196"/>
              <a:gd name="connsiteY1" fmla="*/ 1041043 h 1050771"/>
              <a:gd name="connsiteX2" fmla="*/ 1712068 w 2072196"/>
              <a:gd name="connsiteY2" fmla="*/ 924312 h 1050771"/>
              <a:gd name="connsiteX3" fmla="*/ 2062264 w 2072196"/>
              <a:gd name="connsiteY3" fmla="*/ 183 h 1050771"/>
              <a:gd name="connsiteX0" fmla="*/ 0 w 1712068"/>
              <a:gd name="connsiteY0" fmla="*/ 126459 h 126459"/>
              <a:gd name="connsiteX1" fmla="*/ 1060315 w 1712068"/>
              <a:gd name="connsiteY1" fmla="*/ 116731 h 126459"/>
              <a:gd name="connsiteX2" fmla="*/ 1712068 w 1712068"/>
              <a:gd name="connsiteY2" fmla="*/ 0 h 126459"/>
              <a:gd name="connsiteX0" fmla="*/ 0 w 1712068"/>
              <a:gd name="connsiteY0" fmla="*/ 126459 h 155641"/>
              <a:gd name="connsiteX1" fmla="*/ 953311 w 1712068"/>
              <a:gd name="connsiteY1" fmla="*/ 155641 h 155641"/>
              <a:gd name="connsiteX2" fmla="*/ 1712068 w 1712068"/>
              <a:gd name="connsiteY2" fmla="*/ 0 h 155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2068" h="155641">
                <a:moveTo>
                  <a:pt x="0" y="126459"/>
                </a:moveTo>
                <a:lnTo>
                  <a:pt x="953311" y="155641"/>
                </a:lnTo>
                <a:cubicBezTo>
                  <a:pt x="1238656" y="134565"/>
                  <a:pt x="1545077" y="173477"/>
                  <a:pt x="1712068" y="0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1A78CB7-3805-4BDC-BC20-6FB6B1972AEC}"/>
              </a:ext>
            </a:extLst>
          </p:cNvPr>
          <p:cNvSpPr/>
          <p:nvPr/>
        </p:nvSpPr>
        <p:spPr>
          <a:xfrm>
            <a:off x="4046126" y="3520915"/>
            <a:ext cx="929328" cy="239159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5D18697-1A3C-4B93-B96A-077BCF8B9A63}"/>
              </a:ext>
            </a:extLst>
          </p:cNvPr>
          <p:cNvSpPr/>
          <p:nvPr/>
        </p:nvSpPr>
        <p:spPr>
          <a:xfrm>
            <a:off x="1632288" y="2242541"/>
            <a:ext cx="1680413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7030A0"/>
                </a:solidFill>
              </a:rPr>
              <a:t>Cable Segment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E200F8-748D-40B5-96C8-2676DE2D3231}"/>
              </a:ext>
            </a:extLst>
          </p:cNvPr>
          <p:cNvSpPr/>
          <p:nvPr/>
        </p:nvSpPr>
        <p:spPr>
          <a:xfrm>
            <a:off x="5596511" y="2242541"/>
            <a:ext cx="1680413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7030A0"/>
                </a:solidFill>
              </a:rPr>
              <a:t>Cable Segment</a:t>
            </a:r>
          </a:p>
        </p:txBody>
      </p:sp>
    </p:spTree>
    <p:extLst>
      <p:ext uri="{BB962C8B-B14F-4D97-AF65-F5344CB8AC3E}">
        <p14:creationId xmlns:p14="http://schemas.microsoft.com/office/powerpoint/2010/main" val="10004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3A2E782D-0498-4803-AD4D-A47C7A204A75}"/>
              </a:ext>
            </a:extLst>
          </p:cNvPr>
          <p:cNvSpPr/>
          <p:nvPr/>
        </p:nvSpPr>
        <p:spPr>
          <a:xfrm>
            <a:off x="4413711" y="3242979"/>
            <a:ext cx="1995023" cy="1038008"/>
          </a:xfrm>
          <a:prstGeom prst="roundRect">
            <a:avLst>
              <a:gd name="adj" fmla="val 11528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1B9B15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Connectivity Model (API)</a:t>
            </a: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06D3D9F-2D81-4AD8-A488-4200EAB11638}"/>
              </a:ext>
            </a:extLst>
          </p:cNvPr>
          <p:cNvGrpSpPr/>
          <p:nvPr/>
        </p:nvGrpSpPr>
        <p:grpSpPr>
          <a:xfrm>
            <a:off x="899592" y="6293540"/>
            <a:ext cx="576064" cy="263942"/>
            <a:chOff x="1331640" y="5973370"/>
            <a:chExt cx="576064" cy="263942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3A1B9FB-5E6D-47DD-9C79-326A48B3DD35}"/>
                </a:ext>
              </a:extLst>
            </p:cNvPr>
            <p:cNvSpPr/>
            <p:nvPr/>
          </p:nvSpPr>
          <p:spPr>
            <a:xfrm>
              <a:off x="1331640" y="6071230"/>
              <a:ext cx="72008" cy="72008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66042173-7892-4E3A-B750-8641E9F630BD}"/>
                </a:ext>
              </a:extLst>
            </p:cNvPr>
            <p:cNvSpPr/>
            <p:nvPr/>
          </p:nvSpPr>
          <p:spPr>
            <a:xfrm>
              <a:off x="1403648" y="5973370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accent1"/>
                  </a:solidFill>
                </a:rPr>
                <a:t>pin</a:t>
              </a:r>
              <a:endParaRPr lang="en-GB" sz="1000">
                <a:solidFill>
                  <a:schemeClr val="accent1"/>
                </a:solidFill>
              </a:endParaRPr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273FB7CF-BE5D-47FE-8780-849C1AA2C9ED}"/>
              </a:ext>
            </a:extLst>
          </p:cNvPr>
          <p:cNvGrpSpPr/>
          <p:nvPr/>
        </p:nvGrpSpPr>
        <p:grpSpPr>
          <a:xfrm>
            <a:off x="1699230" y="6293540"/>
            <a:ext cx="640522" cy="263942"/>
            <a:chOff x="2131278" y="5973370"/>
            <a:chExt cx="640522" cy="263942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7DD2CBD-6ED5-4132-BEE6-2BCEFAC4C375}"/>
                </a:ext>
              </a:extLst>
            </p:cNvPr>
            <p:cNvSpPr/>
            <p:nvPr/>
          </p:nvSpPr>
          <p:spPr>
            <a:xfrm>
              <a:off x="2131278" y="6018841"/>
              <a:ext cx="216024" cy="173000"/>
            </a:xfrm>
            <a:prstGeom prst="rect">
              <a:avLst/>
            </a:prstGeom>
            <a:noFill/>
            <a:ln w="15875">
              <a:solidFill>
                <a:srgbClr val="1B9B15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913BE65-43DE-483E-B7F3-0C8A7C3012B3}"/>
                </a:ext>
              </a:extLst>
            </p:cNvPr>
            <p:cNvSpPr/>
            <p:nvPr/>
          </p:nvSpPr>
          <p:spPr>
            <a:xfrm>
              <a:off x="2267744" y="5973370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rgbClr val="1B9B15"/>
                  </a:solidFill>
                </a:rPr>
                <a:t>cp</a:t>
              </a:r>
              <a:endParaRPr lang="en-GB" sz="1000">
                <a:solidFill>
                  <a:srgbClr val="1B9B15"/>
                </a:solidFill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193B22C-92CA-4CB4-8173-3807ADECFAB2}"/>
              </a:ext>
            </a:extLst>
          </p:cNvPr>
          <p:cNvGrpSpPr/>
          <p:nvPr/>
        </p:nvGrpSpPr>
        <p:grpSpPr>
          <a:xfrm>
            <a:off x="3876694" y="6326668"/>
            <a:ext cx="1045543" cy="263942"/>
            <a:chOff x="2924323" y="5973370"/>
            <a:chExt cx="1045543" cy="263942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44C86EC5-AB6F-4BB8-9593-09DF788CBCFC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FC3CCBDC-2A1A-4D19-8EEC-5E8D43AF3C42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connection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</a:rPr>
                <a:t>(modelled) 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48DCBEB8-0FEF-4E65-AC51-A0047BE0733A}"/>
              </a:ext>
            </a:extLst>
          </p:cNvPr>
          <p:cNvGrpSpPr/>
          <p:nvPr/>
        </p:nvGrpSpPr>
        <p:grpSpPr>
          <a:xfrm>
            <a:off x="2540535" y="6319420"/>
            <a:ext cx="1042362" cy="263942"/>
            <a:chOff x="4271111" y="6007638"/>
            <a:chExt cx="1042362" cy="263942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F494DD3E-86B8-4731-914C-A2D69AFFD090}"/>
                </a:ext>
              </a:extLst>
            </p:cNvPr>
            <p:cNvSpPr/>
            <p:nvPr/>
          </p:nvSpPr>
          <p:spPr>
            <a:xfrm>
              <a:off x="4271111" y="6036962"/>
              <a:ext cx="504056" cy="2003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100">
                <a:solidFill>
                  <a:schemeClr val="tx1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38A021DB-76FA-4FB8-82C2-D6DF309D1A72}"/>
                </a:ext>
              </a:extLst>
            </p:cNvPr>
            <p:cNvSpPr/>
            <p:nvPr/>
          </p:nvSpPr>
          <p:spPr>
            <a:xfrm>
              <a:off x="4809417" y="6007638"/>
              <a:ext cx="504056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pin range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5922DDB-5C32-426B-B0B9-56E7CD455936}"/>
              </a:ext>
            </a:extLst>
          </p:cNvPr>
          <p:cNvGrpSpPr/>
          <p:nvPr/>
        </p:nvGrpSpPr>
        <p:grpSpPr>
          <a:xfrm>
            <a:off x="2374734" y="3364413"/>
            <a:ext cx="1766008" cy="378189"/>
            <a:chOff x="2316999" y="4567600"/>
            <a:chExt cx="1766008" cy="378189"/>
          </a:xfrm>
          <a:solidFill>
            <a:schemeClr val="bg1"/>
          </a:solidFill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1D7CBC90-2940-4937-B88F-47B6DA8D06D9}"/>
                </a:ext>
              </a:extLst>
            </p:cNvPr>
            <p:cNvSpPr/>
            <p:nvPr/>
          </p:nvSpPr>
          <p:spPr>
            <a:xfrm>
              <a:off x="2316999" y="4567600"/>
              <a:ext cx="1766008" cy="378189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30000"/>
              </a:schemeClr>
            </a:solidFill>
            <a:ln w="12700">
              <a:solidFill>
                <a:srgbClr val="00B050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1F907E8-AE26-4C26-9D22-5BF9AA963E22}"/>
                </a:ext>
              </a:extLst>
            </p:cNvPr>
            <p:cNvSpPr/>
            <p:nvPr/>
          </p:nvSpPr>
          <p:spPr>
            <a:xfrm>
              <a:off x="2442652" y="4622655"/>
              <a:ext cx="627816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out:2:3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3A9D300-5D21-4584-A7F8-BF0AA5CD8DBC}"/>
                </a:ext>
              </a:extLst>
            </p:cNvPr>
            <p:cNvSpPr/>
            <p:nvPr/>
          </p:nvSpPr>
          <p:spPr>
            <a:xfrm>
              <a:off x="3367905" y="4627073"/>
              <a:ext cx="624587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in:1:2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A45AD221-C1F8-450F-8029-A17FBD6E0844}"/>
                </a:ext>
              </a:extLst>
            </p:cNvPr>
            <p:cNvCxnSpPr>
              <a:cxnSpLocks/>
            </p:cNvCxnSpPr>
            <p:nvPr/>
          </p:nvCxnSpPr>
          <p:spPr>
            <a:xfrm>
              <a:off x="3108582" y="4746237"/>
              <a:ext cx="224397" cy="0"/>
            </a:xfrm>
            <a:prstGeom prst="straightConnector1">
              <a:avLst/>
            </a:prstGeom>
            <a:grpFill/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ED98D80-8F05-4296-BDE0-FA9598368E5C}"/>
              </a:ext>
            </a:extLst>
          </p:cNvPr>
          <p:cNvGrpSpPr/>
          <p:nvPr/>
        </p:nvGrpSpPr>
        <p:grpSpPr>
          <a:xfrm>
            <a:off x="4526304" y="3356992"/>
            <a:ext cx="1766008" cy="378189"/>
            <a:chOff x="4468569" y="4560179"/>
            <a:chExt cx="1766008" cy="378189"/>
          </a:xfrm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0C8F7AC-DC09-40B5-BCD7-E8AC2C551860}"/>
                </a:ext>
              </a:extLst>
            </p:cNvPr>
            <p:cNvSpPr/>
            <p:nvPr/>
          </p:nvSpPr>
          <p:spPr>
            <a:xfrm>
              <a:off x="4468569" y="4560179"/>
              <a:ext cx="1766008" cy="3781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EA5D7CD1-EE84-467D-8700-BC35E19CEB5D}"/>
                </a:ext>
              </a:extLst>
            </p:cNvPr>
            <p:cNvSpPr/>
            <p:nvPr/>
          </p:nvSpPr>
          <p:spPr>
            <a:xfrm>
              <a:off x="4572000" y="4621430"/>
              <a:ext cx="627816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out:1:2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B91A967-E317-435E-9979-98763EFFF8B2}"/>
                </a:ext>
              </a:extLst>
            </p:cNvPr>
            <p:cNvSpPr/>
            <p:nvPr/>
          </p:nvSpPr>
          <p:spPr>
            <a:xfrm>
              <a:off x="5531589" y="4617895"/>
              <a:ext cx="624587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in:1:2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93C9EE1E-B0ED-4FCD-B73C-A2DC3BBC0A15}"/>
                </a:ext>
              </a:extLst>
            </p:cNvPr>
            <p:cNvCxnSpPr>
              <a:cxnSpLocks/>
            </p:cNvCxnSpPr>
            <p:nvPr/>
          </p:nvCxnSpPr>
          <p:spPr>
            <a:xfrm>
              <a:off x="5269269" y="4755415"/>
              <a:ext cx="224397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8B6EA3B7-A7FA-4D64-9791-2DFA57463DDF}"/>
              </a:ext>
            </a:extLst>
          </p:cNvPr>
          <p:cNvGrpSpPr/>
          <p:nvPr/>
        </p:nvGrpSpPr>
        <p:grpSpPr>
          <a:xfrm>
            <a:off x="4531171" y="3791840"/>
            <a:ext cx="1766008" cy="378189"/>
            <a:chOff x="4473436" y="4995027"/>
            <a:chExt cx="1766008" cy="378189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42D7B35-B48A-46B5-8ED5-4568B787E7AF}"/>
                </a:ext>
              </a:extLst>
            </p:cNvPr>
            <p:cNvSpPr/>
            <p:nvPr/>
          </p:nvSpPr>
          <p:spPr>
            <a:xfrm>
              <a:off x="4473436" y="4995027"/>
              <a:ext cx="1766008" cy="3781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46A17BA5-9DA6-4B47-94B9-8F342B450A72}"/>
                </a:ext>
              </a:extLst>
            </p:cNvPr>
            <p:cNvSpPr/>
            <p:nvPr/>
          </p:nvSpPr>
          <p:spPr>
            <a:xfrm>
              <a:off x="4587042" y="5040463"/>
              <a:ext cx="627816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out:3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00E0D9C6-20A2-44A0-80D6-EA54D3E65313}"/>
                </a:ext>
              </a:extLst>
            </p:cNvPr>
            <p:cNvSpPr/>
            <p:nvPr/>
          </p:nvSpPr>
          <p:spPr>
            <a:xfrm>
              <a:off x="5546631" y="5036928"/>
              <a:ext cx="624587" cy="2566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in:1</a:t>
              </a:r>
              <a:endParaRPr lang="en-GB" sz="1000">
                <a:solidFill>
                  <a:schemeClr val="tx1"/>
                </a:solidFill>
              </a:endParaRPr>
            </a:p>
          </p:txBody>
        </p: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AADD87B4-5BD9-48E0-8FCB-44CE1F615983}"/>
                </a:ext>
              </a:extLst>
            </p:cNvPr>
            <p:cNvCxnSpPr>
              <a:cxnSpLocks/>
            </p:cNvCxnSpPr>
            <p:nvPr/>
          </p:nvCxnSpPr>
          <p:spPr>
            <a:xfrm>
              <a:off x="5280901" y="5172864"/>
              <a:ext cx="224397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669FC17-5042-419D-8F45-8D21CC7AB1AE}"/>
              </a:ext>
            </a:extLst>
          </p:cNvPr>
          <p:cNvSpPr/>
          <p:nvPr/>
        </p:nvSpPr>
        <p:spPr>
          <a:xfrm>
            <a:off x="6876850" y="6352180"/>
            <a:ext cx="871503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In-memory Object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CBB74B5F-66DE-4E4E-AC49-C58E73390712}"/>
              </a:ext>
            </a:extLst>
          </p:cNvPr>
          <p:cNvSpPr/>
          <p:nvPr/>
        </p:nvSpPr>
        <p:spPr>
          <a:xfrm>
            <a:off x="6315588" y="6359754"/>
            <a:ext cx="561262" cy="263942"/>
          </a:xfrm>
          <a:prstGeom prst="roundRect">
            <a:avLst>
              <a:gd name="adj" fmla="val 11528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1B9B15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14753A82-B448-46A3-8E5C-53FDB16ABB36}"/>
              </a:ext>
            </a:extLst>
          </p:cNvPr>
          <p:cNvGrpSpPr/>
          <p:nvPr/>
        </p:nvGrpSpPr>
        <p:grpSpPr>
          <a:xfrm>
            <a:off x="5102731" y="6340776"/>
            <a:ext cx="1045543" cy="263942"/>
            <a:chOff x="2924323" y="5973370"/>
            <a:chExt cx="1045543" cy="263942"/>
          </a:xfrm>
        </p:grpSpPr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558A2C5E-02F7-4B6D-9738-5490BBB3A7CF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5B5D9FBE-258C-4056-9F44-9797CA4AE1BB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connection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</a:rPr>
                <a:t>(implicit) 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887AF55-D0F9-45E6-A431-57CAD77EC810}"/>
              </a:ext>
            </a:extLst>
          </p:cNvPr>
          <p:cNvSpPr/>
          <p:nvPr/>
        </p:nvSpPr>
        <p:spPr>
          <a:xfrm>
            <a:off x="2803968" y="3750041"/>
            <a:ext cx="1013788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1B9B15"/>
                </a:solidFill>
              </a:rPr>
              <a:t>Conn</a:t>
            </a:r>
            <a:endParaRPr lang="en-GB" sz="1000">
              <a:solidFill>
                <a:srgbClr val="1B9B15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15F1112-FD72-4625-B02E-22AAEB256CFF}"/>
              </a:ext>
            </a:extLst>
          </p:cNvPr>
          <p:cNvSpPr/>
          <p:nvPr/>
        </p:nvSpPr>
        <p:spPr>
          <a:xfrm>
            <a:off x="4932308" y="4322109"/>
            <a:ext cx="1013788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rgbClr val="1B9B15"/>
                </a:solidFill>
              </a:rPr>
              <a:t>ConnSet</a:t>
            </a:r>
            <a:endParaRPr lang="en-GB" sz="1000" dirty="0">
              <a:solidFill>
                <a:srgbClr val="1B9B1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62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7. Circuit Model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425512" y="4227792"/>
            <a:ext cx="122413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Structure 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6576" y="3284984"/>
            <a:ext cx="1764449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Equipment Cable Segment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3210" y="2234244"/>
            <a:ext cx="181269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Circuit Port Circuit Segment</a:t>
            </a:r>
          </a:p>
        </p:txBody>
      </p:sp>
      <p:cxnSp>
        <p:nvCxnSpPr>
          <p:cNvPr id="35" name="Straight Connector 34"/>
          <p:cNvCxnSpPr>
            <a:cxnSpLocks/>
          </p:cNvCxnSpPr>
          <p:nvPr/>
        </p:nvCxnSpPr>
        <p:spPr>
          <a:xfrm>
            <a:off x="1070814" y="1577653"/>
            <a:ext cx="5381891" cy="0"/>
          </a:xfrm>
          <a:prstGeom prst="line">
            <a:avLst/>
          </a:prstGeom>
          <a:ln w="41275">
            <a:solidFill>
              <a:srgbClr val="1B9B15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 flipV="1">
            <a:off x="1818671" y="2515593"/>
            <a:ext cx="1607313" cy="29660"/>
          </a:xfrm>
          <a:prstGeom prst="line">
            <a:avLst/>
          </a:prstGeom>
          <a:ln w="41275">
            <a:solidFill>
              <a:srgbClr val="1B9B15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>
            <a:off x="4154686" y="2523312"/>
            <a:ext cx="1623784" cy="0"/>
          </a:xfrm>
          <a:prstGeom prst="line">
            <a:avLst/>
          </a:prstGeom>
          <a:ln w="41275">
            <a:solidFill>
              <a:srgbClr val="1B9B15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F8809B3-9E3F-4CFF-B696-286052F16B42}"/>
              </a:ext>
            </a:extLst>
          </p:cNvPr>
          <p:cNvGrpSpPr/>
          <p:nvPr/>
        </p:nvGrpSpPr>
        <p:grpSpPr>
          <a:xfrm>
            <a:off x="4210533" y="6237312"/>
            <a:ext cx="1045543" cy="263942"/>
            <a:chOff x="2924323" y="5973370"/>
            <a:chExt cx="1045543" cy="263942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1A10A2D-A887-442A-846F-F14B122A119C}"/>
                </a:ext>
              </a:extLst>
            </p:cNvPr>
            <p:cNvCxnSpPr>
              <a:cxnSpLocks/>
            </p:cNvCxnSpPr>
            <p:nvPr/>
          </p:nvCxnSpPr>
          <p:spPr>
            <a:xfrm>
              <a:off x="2924323" y="6105341"/>
              <a:ext cx="248228" cy="3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C7F209A-4376-4FAB-A3CE-BD63FB70F354}"/>
                </a:ext>
              </a:extLst>
            </p:cNvPr>
            <p:cNvSpPr/>
            <p:nvPr/>
          </p:nvSpPr>
          <p:spPr>
            <a:xfrm>
              <a:off x="3139171" y="5973370"/>
              <a:ext cx="830695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stored reference</a:t>
              </a:r>
              <a:endParaRPr lang="en-GB" sz="1000">
                <a:solidFill>
                  <a:schemeClr val="tx1"/>
                </a:solidFill>
              </a:endParaRP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E52AADA7-2AFD-4E6C-A20C-A21F143E3919}"/>
              </a:ext>
            </a:extLst>
          </p:cNvPr>
          <p:cNvSpPr/>
          <p:nvPr/>
        </p:nvSpPr>
        <p:spPr>
          <a:xfrm>
            <a:off x="4831760" y="2871997"/>
            <a:ext cx="105882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cable segment</a:t>
            </a:r>
            <a:b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&amp; pins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CB5ADC-C9DD-4107-98CF-B3672790E9B9}"/>
              </a:ext>
            </a:extLst>
          </p:cNvPr>
          <p:cNvGrpSpPr/>
          <p:nvPr/>
        </p:nvGrpSpPr>
        <p:grpSpPr>
          <a:xfrm>
            <a:off x="2524142" y="1732048"/>
            <a:ext cx="558998" cy="383505"/>
            <a:chOff x="2668278" y="1901370"/>
            <a:chExt cx="558998" cy="383505"/>
          </a:xfrm>
        </p:grpSpPr>
        <p:cxnSp>
          <p:nvCxnSpPr>
            <p:cNvPr id="42" name="Straight Arrow Connector 41"/>
            <p:cNvCxnSpPr/>
            <p:nvPr/>
          </p:nvCxnSpPr>
          <p:spPr>
            <a:xfrm flipV="1">
              <a:off x="2723646" y="1901370"/>
              <a:ext cx="0" cy="383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18185AB-F8A7-4061-8294-D15037CA0D57}"/>
                </a:ext>
              </a:extLst>
            </p:cNvPr>
            <p:cNvSpPr/>
            <p:nvPr/>
          </p:nvSpPr>
          <p:spPr>
            <a:xfrm>
              <a:off x="2668278" y="2008389"/>
              <a:ext cx="558998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circuit</a:t>
              </a:r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67F5150F-969B-4730-8921-75300CE15A5C}"/>
              </a:ext>
            </a:extLst>
          </p:cNvPr>
          <p:cNvSpPr/>
          <p:nvPr/>
        </p:nvSpPr>
        <p:spPr>
          <a:xfrm>
            <a:off x="1040530" y="2401085"/>
            <a:ext cx="216010" cy="216020"/>
          </a:xfrm>
          <a:prstGeom prst="rect">
            <a:avLst/>
          </a:prstGeom>
          <a:solidFill>
            <a:srgbClr val="1B9B15">
              <a:alpha val="40000"/>
            </a:srgbClr>
          </a:solidFill>
          <a:ln w="25400">
            <a:solidFill>
              <a:srgbClr val="1B9B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5B42E7B-E62D-4302-82FB-CFFD978941C0}"/>
              </a:ext>
            </a:extLst>
          </p:cNvPr>
          <p:cNvSpPr/>
          <p:nvPr/>
        </p:nvSpPr>
        <p:spPr>
          <a:xfrm>
            <a:off x="6300708" y="2408497"/>
            <a:ext cx="216010" cy="216020"/>
          </a:xfrm>
          <a:prstGeom prst="rect">
            <a:avLst/>
          </a:prstGeom>
          <a:solidFill>
            <a:srgbClr val="1B9B15">
              <a:alpha val="40000"/>
            </a:srgbClr>
          </a:solidFill>
          <a:ln w="25400">
            <a:solidFill>
              <a:srgbClr val="1B9B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2495FFE-4FD0-4950-8A1C-555BA1A25A64}"/>
              </a:ext>
            </a:extLst>
          </p:cNvPr>
          <p:cNvGrpSpPr/>
          <p:nvPr/>
        </p:nvGrpSpPr>
        <p:grpSpPr>
          <a:xfrm>
            <a:off x="5784531" y="2159840"/>
            <a:ext cx="510115" cy="726943"/>
            <a:chOff x="3701965" y="2137312"/>
            <a:chExt cx="677594" cy="795335"/>
          </a:xfrm>
        </p:grpSpPr>
        <p:sp>
          <p:nvSpPr>
            <p:cNvPr id="81" name="Freeform 2">
              <a:extLst>
                <a:ext uri="{FF2B5EF4-FFF2-40B4-BE49-F238E27FC236}">
                  <a16:creationId xmlns:a16="http://schemas.microsoft.com/office/drawing/2014/main" id="{9F70FF0F-620D-4315-ACDC-ECDAF5FA6364}"/>
                </a:ext>
              </a:extLst>
            </p:cNvPr>
            <p:cNvSpPr/>
            <p:nvPr/>
          </p:nvSpPr>
          <p:spPr>
            <a:xfrm>
              <a:off x="3808772" y="2368719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Freeform 37">
              <a:extLst>
                <a:ext uri="{FF2B5EF4-FFF2-40B4-BE49-F238E27FC236}">
                  <a16:creationId xmlns:a16="http://schemas.microsoft.com/office/drawing/2014/main" id="{3175D5D1-A59C-424C-9422-29F7B8CC6C95}"/>
                </a:ext>
              </a:extLst>
            </p:cNvPr>
            <p:cNvSpPr/>
            <p:nvPr/>
          </p:nvSpPr>
          <p:spPr>
            <a:xfrm rot="10991619">
              <a:off x="3791406" y="2603638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351CF05-6E72-4128-81BA-0A6801E930AF}"/>
                </a:ext>
              </a:extLst>
            </p:cNvPr>
            <p:cNvSpPr/>
            <p:nvPr/>
          </p:nvSpPr>
          <p:spPr>
            <a:xfrm>
              <a:off x="3701965" y="2137312"/>
              <a:ext cx="677594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1B5AFB3-672F-4DAA-B4B6-9D88C67F23BC}"/>
                </a:ext>
              </a:extLst>
            </p:cNvPr>
            <p:cNvSpPr/>
            <p:nvPr/>
          </p:nvSpPr>
          <p:spPr>
            <a:xfrm>
              <a:off x="3701965" y="2668705"/>
              <a:ext cx="677594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022D4E2-C426-4DE7-AB71-3689832F465F}"/>
              </a:ext>
            </a:extLst>
          </p:cNvPr>
          <p:cNvCxnSpPr>
            <a:cxnSpLocks/>
          </p:cNvCxnSpPr>
          <p:nvPr/>
        </p:nvCxnSpPr>
        <p:spPr>
          <a:xfrm>
            <a:off x="1818671" y="3509451"/>
            <a:ext cx="1607313" cy="3604"/>
          </a:xfrm>
          <a:prstGeom prst="line">
            <a:avLst/>
          </a:prstGeom>
          <a:ln w="41275">
            <a:solidFill>
              <a:srgbClr val="A02AA0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5051BF1-98B3-4631-9D0A-E17EDC4E728B}"/>
              </a:ext>
            </a:extLst>
          </p:cNvPr>
          <p:cNvCxnSpPr>
            <a:cxnSpLocks/>
          </p:cNvCxnSpPr>
          <p:nvPr/>
        </p:nvCxnSpPr>
        <p:spPr>
          <a:xfrm>
            <a:off x="4165907" y="3512313"/>
            <a:ext cx="1602467" cy="2020"/>
          </a:xfrm>
          <a:prstGeom prst="line">
            <a:avLst/>
          </a:prstGeom>
          <a:ln w="41275">
            <a:solidFill>
              <a:srgbClr val="A02AA0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EAC3F91-F628-4835-9CF2-8B00E4C149B2}"/>
              </a:ext>
            </a:extLst>
          </p:cNvPr>
          <p:cNvCxnSpPr>
            <a:cxnSpLocks/>
          </p:cNvCxnSpPr>
          <p:nvPr/>
        </p:nvCxnSpPr>
        <p:spPr>
          <a:xfrm>
            <a:off x="2573732" y="2780928"/>
            <a:ext cx="0" cy="39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1C15E4B-1A51-464D-BB01-A02AC333C042}"/>
              </a:ext>
            </a:extLst>
          </p:cNvPr>
          <p:cNvGrpSpPr/>
          <p:nvPr/>
        </p:nvGrpSpPr>
        <p:grpSpPr>
          <a:xfrm>
            <a:off x="3529291" y="2138819"/>
            <a:ext cx="510115" cy="726943"/>
            <a:chOff x="3701965" y="2137312"/>
            <a:chExt cx="677594" cy="795335"/>
          </a:xfrm>
        </p:grpSpPr>
        <p:sp>
          <p:nvSpPr>
            <p:cNvPr id="95" name="Freeform 2">
              <a:extLst>
                <a:ext uri="{FF2B5EF4-FFF2-40B4-BE49-F238E27FC236}">
                  <a16:creationId xmlns:a16="http://schemas.microsoft.com/office/drawing/2014/main" id="{522ACD0C-D664-43E8-A2F4-87A8063ADA51}"/>
                </a:ext>
              </a:extLst>
            </p:cNvPr>
            <p:cNvSpPr/>
            <p:nvPr/>
          </p:nvSpPr>
          <p:spPr>
            <a:xfrm>
              <a:off x="3808772" y="2368719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238BACF1-AE2F-4212-9D8C-A1FF4C26398A}"/>
                </a:ext>
              </a:extLst>
            </p:cNvPr>
            <p:cNvSpPr/>
            <p:nvPr/>
          </p:nvSpPr>
          <p:spPr>
            <a:xfrm rot="10991619">
              <a:off x="3791406" y="2603638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B416E9C-B558-4AC8-BFF0-AA884FBB9E20}"/>
                </a:ext>
              </a:extLst>
            </p:cNvPr>
            <p:cNvSpPr/>
            <p:nvPr/>
          </p:nvSpPr>
          <p:spPr>
            <a:xfrm>
              <a:off x="3701965" y="2137312"/>
              <a:ext cx="677594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6DDC015-50AB-45A2-82DF-04195EAA2CF6}"/>
                </a:ext>
              </a:extLst>
            </p:cNvPr>
            <p:cNvSpPr/>
            <p:nvPr/>
          </p:nvSpPr>
          <p:spPr>
            <a:xfrm>
              <a:off x="3701965" y="2668705"/>
              <a:ext cx="677594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13E5B3B-8CED-4E8F-84D8-50DDBB0DF751}"/>
              </a:ext>
            </a:extLst>
          </p:cNvPr>
          <p:cNvGrpSpPr/>
          <p:nvPr/>
        </p:nvGrpSpPr>
        <p:grpSpPr>
          <a:xfrm>
            <a:off x="1292348" y="2167755"/>
            <a:ext cx="510115" cy="726943"/>
            <a:chOff x="3701965" y="2137312"/>
            <a:chExt cx="677594" cy="795335"/>
          </a:xfrm>
        </p:grpSpPr>
        <p:sp>
          <p:nvSpPr>
            <p:cNvPr id="100" name="Freeform 2">
              <a:extLst>
                <a:ext uri="{FF2B5EF4-FFF2-40B4-BE49-F238E27FC236}">
                  <a16:creationId xmlns:a16="http://schemas.microsoft.com/office/drawing/2014/main" id="{7D0DAF1B-4E1E-4B37-8965-FCB39991A9FD}"/>
                </a:ext>
              </a:extLst>
            </p:cNvPr>
            <p:cNvSpPr/>
            <p:nvPr/>
          </p:nvSpPr>
          <p:spPr>
            <a:xfrm>
              <a:off x="3808772" y="2368719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id="{50D2357D-E59F-48E0-A7B3-6F1E62E4B079}"/>
                </a:ext>
              </a:extLst>
            </p:cNvPr>
            <p:cNvSpPr/>
            <p:nvPr/>
          </p:nvSpPr>
          <p:spPr>
            <a:xfrm rot="10991619">
              <a:off x="3791406" y="2603638"/>
              <a:ext cx="452761" cy="88777"/>
            </a:xfrm>
            <a:custGeom>
              <a:avLst/>
              <a:gdLst>
                <a:gd name="connsiteX0" fmla="*/ 0 w 452761"/>
                <a:gd name="connsiteY0" fmla="*/ 88777 h 88777"/>
                <a:gd name="connsiteX1" fmla="*/ 230820 w 452761"/>
                <a:gd name="connsiteY1" fmla="*/ 0 h 88777"/>
                <a:gd name="connsiteX2" fmla="*/ 452761 w 452761"/>
                <a:gd name="connsiteY2" fmla="*/ 88777 h 8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761" h="88777">
                  <a:moveTo>
                    <a:pt x="0" y="88777"/>
                  </a:moveTo>
                  <a:cubicBezTo>
                    <a:pt x="77680" y="44388"/>
                    <a:pt x="155360" y="0"/>
                    <a:pt x="230820" y="0"/>
                  </a:cubicBezTo>
                  <a:cubicBezTo>
                    <a:pt x="306280" y="0"/>
                    <a:pt x="379520" y="44388"/>
                    <a:pt x="452761" y="88777"/>
                  </a:cubicBezTo>
                </a:path>
              </a:pathLst>
            </a:custGeom>
            <a:noFill/>
            <a:ln w="12700"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EBF6125-BEC1-4FF3-92AA-2CA09545DD2D}"/>
                </a:ext>
              </a:extLst>
            </p:cNvPr>
            <p:cNvSpPr/>
            <p:nvPr/>
          </p:nvSpPr>
          <p:spPr>
            <a:xfrm>
              <a:off x="3701965" y="2137312"/>
              <a:ext cx="677594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D16D96D-6098-4442-8A7D-BEBE643975A1}"/>
                </a:ext>
              </a:extLst>
            </p:cNvPr>
            <p:cNvSpPr/>
            <p:nvPr/>
          </p:nvSpPr>
          <p:spPr>
            <a:xfrm>
              <a:off x="3701965" y="2668705"/>
              <a:ext cx="677594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93046178-1169-4029-9DA8-9425171CEB57}"/>
              </a:ext>
            </a:extLst>
          </p:cNvPr>
          <p:cNvSpPr/>
          <p:nvPr/>
        </p:nvSpPr>
        <p:spPr>
          <a:xfrm>
            <a:off x="1031399" y="3366370"/>
            <a:ext cx="216024" cy="216024"/>
          </a:xfrm>
          <a:prstGeom prst="ellipse">
            <a:avLst/>
          </a:prstGeom>
          <a:solidFill>
            <a:srgbClr val="A02AA0">
              <a:alpha val="50000"/>
            </a:srgbClr>
          </a:solidFill>
          <a:ln w="25400">
            <a:solidFill>
              <a:srgbClr val="A02A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38714015-FD6F-4ACD-A6B8-AA88D5C3CB38}"/>
              </a:ext>
            </a:extLst>
          </p:cNvPr>
          <p:cNvSpPr/>
          <p:nvPr/>
        </p:nvSpPr>
        <p:spPr>
          <a:xfrm>
            <a:off x="6267903" y="3369498"/>
            <a:ext cx="216024" cy="216024"/>
          </a:xfrm>
          <a:prstGeom prst="ellipse">
            <a:avLst/>
          </a:prstGeom>
          <a:solidFill>
            <a:srgbClr val="A02AA0">
              <a:alpha val="50000"/>
            </a:srgbClr>
          </a:solidFill>
          <a:ln w="25400">
            <a:solidFill>
              <a:srgbClr val="A02A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17D5EED-F33F-4213-8F6A-AED85D4C2810}"/>
              </a:ext>
            </a:extLst>
          </p:cNvPr>
          <p:cNvCxnSpPr>
            <a:cxnSpLocks/>
          </p:cNvCxnSpPr>
          <p:nvPr/>
        </p:nvCxnSpPr>
        <p:spPr>
          <a:xfrm>
            <a:off x="1148535" y="2777800"/>
            <a:ext cx="0" cy="421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65946F5-D6BB-4E8B-9312-1527ECABF8DF}"/>
              </a:ext>
            </a:extLst>
          </p:cNvPr>
          <p:cNvSpPr/>
          <p:nvPr/>
        </p:nvSpPr>
        <p:spPr>
          <a:xfrm>
            <a:off x="1176699" y="2866287"/>
            <a:ext cx="806913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equipment</a:t>
            </a:r>
            <a:b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&amp; pins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D8A224F-1965-4CE2-B7FC-2A565394A127}"/>
              </a:ext>
            </a:extLst>
          </p:cNvPr>
          <p:cNvSpPr/>
          <p:nvPr/>
        </p:nvSpPr>
        <p:spPr>
          <a:xfrm>
            <a:off x="975996" y="4252217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FB559A6-5F4C-4DF5-9D1C-0849BE97316D}"/>
              </a:ext>
            </a:extLst>
          </p:cNvPr>
          <p:cNvSpPr/>
          <p:nvPr/>
        </p:nvSpPr>
        <p:spPr>
          <a:xfrm>
            <a:off x="3519357" y="4255345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60F7E5E-D038-43A7-A3AE-C012A5228BB9}"/>
              </a:ext>
            </a:extLst>
          </p:cNvPr>
          <p:cNvSpPr/>
          <p:nvPr/>
        </p:nvSpPr>
        <p:spPr>
          <a:xfrm>
            <a:off x="6184674" y="4281059"/>
            <a:ext cx="360040" cy="334326"/>
          </a:xfrm>
          <a:prstGeom prst="rect">
            <a:avLst/>
          </a:prstGeom>
          <a:solidFill>
            <a:schemeClr val="accent6">
              <a:lumMod val="50000"/>
              <a:alpha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3249C10-7579-4C8F-833D-C1D83BBB2C36}"/>
              </a:ext>
            </a:extLst>
          </p:cNvPr>
          <p:cNvCxnSpPr>
            <a:cxnSpLocks/>
          </p:cNvCxnSpPr>
          <p:nvPr/>
        </p:nvCxnSpPr>
        <p:spPr>
          <a:xfrm flipV="1">
            <a:off x="1791242" y="4448222"/>
            <a:ext cx="1622262" cy="4495"/>
          </a:xfrm>
          <a:prstGeom prst="line">
            <a:avLst/>
          </a:prstGeom>
          <a:ln w="41275">
            <a:solidFill>
              <a:schemeClr val="accent6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0D99F59-152B-4196-883E-620E7F17532B}"/>
              </a:ext>
            </a:extLst>
          </p:cNvPr>
          <p:cNvCxnSpPr>
            <a:cxnSpLocks/>
          </p:cNvCxnSpPr>
          <p:nvPr/>
        </p:nvCxnSpPr>
        <p:spPr>
          <a:xfrm>
            <a:off x="4154686" y="4415397"/>
            <a:ext cx="1602467" cy="0"/>
          </a:xfrm>
          <a:prstGeom prst="line">
            <a:avLst/>
          </a:prstGeom>
          <a:ln w="41275">
            <a:solidFill>
              <a:schemeClr val="accent6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BAB189B-A143-4D1F-B128-14289A0FD22F}"/>
              </a:ext>
            </a:extLst>
          </p:cNvPr>
          <p:cNvGrpSpPr/>
          <p:nvPr/>
        </p:nvGrpSpPr>
        <p:grpSpPr>
          <a:xfrm>
            <a:off x="1084059" y="1734533"/>
            <a:ext cx="558998" cy="383505"/>
            <a:chOff x="2668278" y="1901370"/>
            <a:chExt cx="558998" cy="383505"/>
          </a:xfrm>
        </p:grpSpPr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D1157111-5447-4D15-9971-8A2A0E983076}"/>
                </a:ext>
              </a:extLst>
            </p:cNvPr>
            <p:cNvCxnSpPr/>
            <p:nvPr/>
          </p:nvCxnSpPr>
          <p:spPr>
            <a:xfrm flipV="1">
              <a:off x="2723646" y="1901370"/>
              <a:ext cx="0" cy="383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4972DDC-BF79-4F54-ABD8-225A3BAE4637}"/>
                </a:ext>
              </a:extLst>
            </p:cNvPr>
            <p:cNvSpPr/>
            <p:nvPr/>
          </p:nvSpPr>
          <p:spPr>
            <a:xfrm>
              <a:off x="2668278" y="2008389"/>
              <a:ext cx="558998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2C2CD05-33FB-459D-BB9B-3DA69B47A8BE}"/>
              </a:ext>
            </a:extLst>
          </p:cNvPr>
          <p:cNvGrpSpPr/>
          <p:nvPr/>
        </p:nvGrpSpPr>
        <p:grpSpPr>
          <a:xfrm>
            <a:off x="4834201" y="1728302"/>
            <a:ext cx="558998" cy="383505"/>
            <a:chOff x="2668278" y="1901370"/>
            <a:chExt cx="558998" cy="383505"/>
          </a:xfrm>
        </p:grpSpPr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97776E90-94D5-438F-8C69-DD982D775812}"/>
                </a:ext>
              </a:extLst>
            </p:cNvPr>
            <p:cNvCxnSpPr/>
            <p:nvPr/>
          </p:nvCxnSpPr>
          <p:spPr>
            <a:xfrm flipV="1">
              <a:off x="2723646" y="1901370"/>
              <a:ext cx="0" cy="383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BBB4D9D-700A-4EEE-9F63-23F9FBF587BE}"/>
                </a:ext>
              </a:extLst>
            </p:cNvPr>
            <p:cNvSpPr/>
            <p:nvPr/>
          </p:nvSpPr>
          <p:spPr>
            <a:xfrm>
              <a:off x="2668278" y="2008389"/>
              <a:ext cx="558998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97F24C7-3C3E-483F-A9DB-B1C25DCE012A}"/>
              </a:ext>
            </a:extLst>
          </p:cNvPr>
          <p:cNvGrpSpPr/>
          <p:nvPr/>
        </p:nvGrpSpPr>
        <p:grpSpPr>
          <a:xfrm>
            <a:off x="6375915" y="1736911"/>
            <a:ext cx="558998" cy="383505"/>
            <a:chOff x="2668278" y="1901370"/>
            <a:chExt cx="558998" cy="383505"/>
          </a:xfrm>
        </p:grpSpPr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D7E6E6D6-94E9-4DFD-B89B-009D753AA285}"/>
                </a:ext>
              </a:extLst>
            </p:cNvPr>
            <p:cNvCxnSpPr/>
            <p:nvPr/>
          </p:nvCxnSpPr>
          <p:spPr>
            <a:xfrm flipV="1">
              <a:off x="2723646" y="1901370"/>
              <a:ext cx="0" cy="383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8AA07D7-C954-43F0-BF93-DBEB8C8500E0}"/>
                </a:ext>
              </a:extLst>
            </p:cNvPr>
            <p:cNvSpPr/>
            <p:nvPr/>
          </p:nvSpPr>
          <p:spPr>
            <a:xfrm>
              <a:off x="2668278" y="2008389"/>
              <a:ext cx="558998" cy="263942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6E26B4A-1F09-461B-A538-57219BF349C7}"/>
              </a:ext>
            </a:extLst>
          </p:cNvPr>
          <p:cNvSpPr/>
          <p:nvPr/>
        </p:nvSpPr>
        <p:spPr>
          <a:xfrm>
            <a:off x="3519357" y="2120416"/>
            <a:ext cx="558998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out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BC34AA0-C28C-4A0B-86F0-88B93167CEAB}"/>
              </a:ext>
            </a:extLst>
          </p:cNvPr>
          <p:cNvSpPr/>
          <p:nvPr/>
        </p:nvSpPr>
        <p:spPr>
          <a:xfrm>
            <a:off x="3539535" y="2653453"/>
            <a:ext cx="558998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in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EFC308FE-C36B-4E1E-A117-882770268E05}"/>
              </a:ext>
            </a:extLst>
          </p:cNvPr>
          <p:cNvSpPr/>
          <p:nvPr/>
        </p:nvSpPr>
        <p:spPr>
          <a:xfrm>
            <a:off x="3889829" y="2759564"/>
            <a:ext cx="285827" cy="1450013"/>
          </a:xfrm>
          <a:custGeom>
            <a:avLst/>
            <a:gdLst>
              <a:gd name="connsiteX0" fmla="*/ 285827 w 289150"/>
              <a:gd name="connsiteY0" fmla="*/ 0 h 1583603"/>
              <a:gd name="connsiteX1" fmla="*/ 77 w 289150"/>
              <a:gd name="connsiteY1" fmla="*/ 704850 h 1583603"/>
              <a:gd name="connsiteX2" fmla="*/ 257252 w 289150"/>
              <a:gd name="connsiteY2" fmla="*/ 1514475 h 1583603"/>
              <a:gd name="connsiteX3" fmla="*/ 276302 w 289150"/>
              <a:gd name="connsiteY3" fmla="*/ 1485900 h 1583603"/>
              <a:gd name="connsiteX0" fmla="*/ 285827 w 285827"/>
              <a:gd name="connsiteY0" fmla="*/ 0 h 1514475"/>
              <a:gd name="connsiteX1" fmla="*/ 77 w 285827"/>
              <a:gd name="connsiteY1" fmla="*/ 704850 h 1514475"/>
              <a:gd name="connsiteX2" fmla="*/ 257252 w 285827"/>
              <a:gd name="connsiteY2" fmla="*/ 1514475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827" h="1514475">
                <a:moveTo>
                  <a:pt x="285827" y="0"/>
                </a:moveTo>
                <a:cubicBezTo>
                  <a:pt x="145333" y="226219"/>
                  <a:pt x="4839" y="452438"/>
                  <a:pt x="77" y="704850"/>
                </a:cubicBezTo>
                <a:cubicBezTo>
                  <a:pt x="-4685" y="957262"/>
                  <a:pt x="211214" y="1384300"/>
                  <a:pt x="257252" y="1514475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1C52CFB7-0DEC-43E2-92C6-CDFD22023B64}"/>
              </a:ext>
            </a:extLst>
          </p:cNvPr>
          <p:cNvSpPr/>
          <p:nvPr/>
        </p:nvSpPr>
        <p:spPr>
          <a:xfrm>
            <a:off x="718603" y="2696557"/>
            <a:ext cx="285827" cy="1450013"/>
          </a:xfrm>
          <a:custGeom>
            <a:avLst/>
            <a:gdLst>
              <a:gd name="connsiteX0" fmla="*/ 285827 w 289150"/>
              <a:gd name="connsiteY0" fmla="*/ 0 h 1583603"/>
              <a:gd name="connsiteX1" fmla="*/ 77 w 289150"/>
              <a:gd name="connsiteY1" fmla="*/ 704850 h 1583603"/>
              <a:gd name="connsiteX2" fmla="*/ 257252 w 289150"/>
              <a:gd name="connsiteY2" fmla="*/ 1514475 h 1583603"/>
              <a:gd name="connsiteX3" fmla="*/ 276302 w 289150"/>
              <a:gd name="connsiteY3" fmla="*/ 1485900 h 1583603"/>
              <a:gd name="connsiteX0" fmla="*/ 285827 w 285827"/>
              <a:gd name="connsiteY0" fmla="*/ 0 h 1514475"/>
              <a:gd name="connsiteX1" fmla="*/ 77 w 285827"/>
              <a:gd name="connsiteY1" fmla="*/ 704850 h 1514475"/>
              <a:gd name="connsiteX2" fmla="*/ 257252 w 285827"/>
              <a:gd name="connsiteY2" fmla="*/ 1514475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827" h="1514475">
                <a:moveTo>
                  <a:pt x="285827" y="0"/>
                </a:moveTo>
                <a:cubicBezTo>
                  <a:pt x="145333" y="226219"/>
                  <a:pt x="4839" y="452438"/>
                  <a:pt x="77" y="704850"/>
                </a:cubicBezTo>
                <a:cubicBezTo>
                  <a:pt x="-4685" y="957262"/>
                  <a:pt x="211214" y="1384300"/>
                  <a:pt x="257252" y="1514475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AFBA7923-F795-44C0-8659-495D8FCBB302}"/>
              </a:ext>
            </a:extLst>
          </p:cNvPr>
          <p:cNvSpPr/>
          <p:nvPr/>
        </p:nvSpPr>
        <p:spPr>
          <a:xfrm flipH="1">
            <a:off x="6569860" y="2673320"/>
            <a:ext cx="241815" cy="1450013"/>
          </a:xfrm>
          <a:custGeom>
            <a:avLst/>
            <a:gdLst>
              <a:gd name="connsiteX0" fmla="*/ 285827 w 289150"/>
              <a:gd name="connsiteY0" fmla="*/ 0 h 1583603"/>
              <a:gd name="connsiteX1" fmla="*/ 77 w 289150"/>
              <a:gd name="connsiteY1" fmla="*/ 704850 h 1583603"/>
              <a:gd name="connsiteX2" fmla="*/ 257252 w 289150"/>
              <a:gd name="connsiteY2" fmla="*/ 1514475 h 1583603"/>
              <a:gd name="connsiteX3" fmla="*/ 276302 w 289150"/>
              <a:gd name="connsiteY3" fmla="*/ 1485900 h 1583603"/>
              <a:gd name="connsiteX0" fmla="*/ 285827 w 285827"/>
              <a:gd name="connsiteY0" fmla="*/ 0 h 1514475"/>
              <a:gd name="connsiteX1" fmla="*/ 77 w 285827"/>
              <a:gd name="connsiteY1" fmla="*/ 704850 h 1514475"/>
              <a:gd name="connsiteX2" fmla="*/ 257252 w 285827"/>
              <a:gd name="connsiteY2" fmla="*/ 1514475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827" h="1514475">
                <a:moveTo>
                  <a:pt x="285827" y="0"/>
                </a:moveTo>
                <a:cubicBezTo>
                  <a:pt x="145333" y="226219"/>
                  <a:pt x="4839" y="452438"/>
                  <a:pt x="77" y="704850"/>
                </a:cubicBezTo>
                <a:cubicBezTo>
                  <a:pt x="-4685" y="957262"/>
                  <a:pt x="211214" y="1384300"/>
                  <a:pt x="257252" y="1514475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973F261-3E8A-4982-8F76-79A06A66429D}"/>
              </a:ext>
            </a:extLst>
          </p:cNvPr>
          <p:cNvCxnSpPr>
            <a:cxnSpLocks/>
          </p:cNvCxnSpPr>
          <p:nvPr/>
        </p:nvCxnSpPr>
        <p:spPr>
          <a:xfrm>
            <a:off x="6397590" y="2780928"/>
            <a:ext cx="0" cy="421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F428B6F6-1D0C-441E-BD30-D56AF1485841}"/>
              </a:ext>
            </a:extLst>
          </p:cNvPr>
          <p:cNvSpPr/>
          <p:nvPr/>
        </p:nvSpPr>
        <p:spPr>
          <a:xfrm flipH="1">
            <a:off x="3292597" y="2738299"/>
            <a:ext cx="241815" cy="1450013"/>
          </a:xfrm>
          <a:custGeom>
            <a:avLst/>
            <a:gdLst>
              <a:gd name="connsiteX0" fmla="*/ 285827 w 289150"/>
              <a:gd name="connsiteY0" fmla="*/ 0 h 1583603"/>
              <a:gd name="connsiteX1" fmla="*/ 77 w 289150"/>
              <a:gd name="connsiteY1" fmla="*/ 704850 h 1583603"/>
              <a:gd name="connsiteX2" fmla="*/ 257252 w 289150"/>
              <a:gd name="connsiteY2" fmla="*/ 1514475 h 1583603"/>
              <a:gd name="connsiteX3" fmla="*/ 276302 w 289150"/>
              <a:gd name="connsiteY3" fmla="*/ 1485900 h 1583603"/>
              <a:gd name="connsiteX0" fmla="*/ 285827 w 285827"/>
              <a:gd name="connsiteY0" fmla="*/ 0 h 1514475"/>
              <a:gd name="connsiteX1" fmla="*/ 77 w 285827"/>
              <a:gd name="connsiteY1" fmla="*/ 704850 h 1514475"/>
              <a:gd name="connsiteX2" fmla="*/ 257252 w 285827"/>
              <a:gd name="connsiteY2" fmla="*/ 1514475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827" h="1514475">
                <a:moveTo>
                  <a:pt x="285827" y="0"/>
                </a:moveTo>
                <a:cubicBezTo>
                  <a:pt x="145333" y="226219"/>
                  <a:pt x="4839" y="452438"/>
                  <a:pt x="77" y="704850"/>
                </a:cubicBezTo>
                <a:cubicBezTo>
                  <a:pt x="-4685" y="957262"/>
                  <a:pt x="211214" y="1384300"/>
                  <a:pt x="257252" y="1514475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3381EDE-9686-4C0E-839D-EEE16FCCD13C}"/>
              </a:ext>
            </a:extLst>
          </p:cNvPr>
          <p:cNvCxnSpPr>
            <a:cxnSpLocks/>
          </p:cNvCxnSpPr>
          <p:nvPr/>
        </p:nvCxnSpPr>
        <p:spPr>
          <a:xfrm>
            <a:off x="4874283" y="2806787"/>
            <a:ext cx="0" cy="39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673332E-9581-4F75-9DD6-6F66C258BB5E}"/>
              </a:ext>
            </a:extLst>
          </p:cNvPr>
          <p:cNvSpPr/>
          <p:nvPr/>
        </p:nvSpPr>
        <p:spPr>
          <a:xfrm>
            <a:off x="175420" y="3859392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root 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F15444C-FD43-4E74-8533-6DFCEEAD7B28}"/>
              </a:ext>
            </a:extLst>
          </p:cNvPr>
          <p:cNvSpPr/>
          <p:nvPr/>
        </p:nvSpPr>
        <p:spPr>
          <a:xfrm>
            <a:off x="7131232" y="1291436"/>
            <a:ext cx="1812696" cy="50405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Circuit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8852937-3C01-4557-9891-D88745C1A3B5}"/>
              </a:ext>
            </a:extLst>
          </p:cNvPr>
          <p:cNvSpPr/>
          <p:nvPr/>
        </p:nvSpPr>
        <p:spPr>
          <a:xfrm>
            <a:off x="4042520" y="3840137"/>
            <a:ext cx="677594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60000"/>
                    <a:lumOff val="40000"/>
                  </a:schemeClr>
                </a:solidFill>
              </a:rPr>
              <a:t>root housing</a:t>
            </a:r>
            <a:endParaRPr lang="en-GB" sz="1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81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118" grpId="0"/>
      <p:bldP spid="159" grpId="0"/>
      <p:bldP spid="1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FB97C7F8-65E2-4684-8884-76493F3A20FB}"/>
              </a:ext>
            </a:extLst>
          </p:cNvPr>
          <p:cNvSpPr/>
          <p:nvPr/>
        </p:nvSpPr>
        <p:spPr>
          <a:xfrm>
            <a:off x="5855923" y="1220349"/>
            <a:ext cx="1820430" cy="4593980"/>
          </a:xfrm>
          <a:prstGeom prst="roundRect">
            <a:avLst>
              <a:gd name="adj" fmla="val 9645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ounded Rectangle 3"/>
          <p:cNvSpPr/>
          <p:nvPr/>
        </p:nvSpPr>
        <p:spPr>
          <a:xfrm>
            <a:off x="1511933" y="3783971"/>
            <a:ext cx="4076416" cy="2077814"/>
          </a:xfrm>
          <a:prstGeom prst="roundRect">
            <a:avLst>
              <a:gd name="adj" fmla="val 8469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GB" dirty="0"/>
              <a:t>7. Client Architecture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8387" y="2915117"/>
            <a:ext cx="1152128" cy="7715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Structure</a:t>
            </a:r>
            <a:br>
              <a:rPr lang="en-GB" sz="1400">
                <a:solidFill>
                  <a:schemeClr val="tx2"/>
                </a:solidFill>
              </a:rPr>
            </a:br>
            <a:r>
              <a:rPr lang="en-GB" sz="1400">
                <a:solidFill>
                  <a:schemeClr val="tx2"/>
                </a:solidFill>
              </a:rPr>
              <a:t>Mode Plugin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89263" y="4451700"/>
            <a:ext cx="1152128" cy="63870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Structure</a:t>
            </a:r>
            <a:br>
              <a:rPr lang="en-GB" sz="1400">
                <a:solidFill>
                  <a:schemeClr val="tx2"/>
                </a:solidFill>
              </a:rPr>
            </a:br>
            <a:r>
              <a:rPr lang="en-GB" sz="1400">
                <a:solidFill>
                  <a:schemeClr val="tx2"/>
                </a:solidFill>
              </a:rPr>
              <a:t>Palette </a:t>
            </a:r>
          </a:p>
        </p:txBody>
      </p:sp>
      <p:cxnSp>
        <p:nvCxnSpPr>
          <p:cNvPr id="63" name="Straight Arrow Connector 62"/>
          <p:cNvCxnSpPr>
            <a:cxnSpLocks/>
          </p:cNvCxnSpPr>
          <p:nvPr/>
        </p:nvCxnSpPr>
        <p:spPr>
          <a:xfrm>
            <a:off x="6699570" y="4024498"/>
            <a:ext cx="0" cy="36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64">
            <a:extLst>
              <a:ext uri="{FF2B5EF4-FFF2-40B4-BE49-F238E27FC236}">
                <a16:creationId xmlns:a16="http://schemas.microsoft.com/office/drawing/2014/main" id="{12C32EBB-8108-4E9F-9DE0-42514E9352EC}"/>
              </a:ext>
            </a:extLst>
          </p:cNvPr>
          <p:cNvSpPr/>
          <p:nvPr/>
        </p:nvSpPr>
        <p:spPr>
          <a:xfrm>
            <a:off x="2316856" y="5203655"/>
            <a:ext cx="2588704" cy="3662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Datasource Extension</a:t>
            </a:r>
          </a:p>
        </p:txBody>
      </p:sp>
      <p:sp>
        <p:nvSpPr>
          <p:cNvPr id="30" name="Rounded Rectangle 60">
            <a:extLst>
              <a:ext uri="{FF2B5EF4-FFF2-40B4-BE49-F238E27FC236}">
                <a16:creationId xmlns:a16="http://schemas.microsoft.com/office/drawing/2014/main" id="{F53BDC17-A278-43BB-BBD2-A24155686C3D}"/>
              </a:ext>
            </a:extLst>
          </p:cNvPr>
          <p:cNvSpPr/>
          <p:nvPr/>
        </p:nvSpPr>
        <p:spPr>
          <a:xfrm>
            <a:off x="2078264" y="4090434"/>
            <a:ext cx="1072374" cy="5221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Structure Manager</a:t>
            </a:r>
          </a:p>
        </p:txBody>
      </p:sp>
      <p:sp>
        <p:nvSpPr>
          <p:cNvPr id="31" name="Rounded Rectangle 60">
            <a:extLst>
              <a:ext uri="{FF2B5EF4-FFF2-40B4-BE49-F238E27FC236}">
                <a16:creationId xmlns:a16="http://schemas.microsoft.com/office/drawing/2014/main" id="{A8A8C825-AB86-47EE-AEF3-49A428E9CA2D}"/>
              </a:ext>
            </a:extLst>
          </p:cNvPr>
          <p:cNvSpPr/>
          <p:nvPr/>
        </p:nvSpPr>
        <p:spPr>
          <a:xfrm>
            <a:off x="2635127" y="4231150"/>
            <a:ext cx="1072374" cy="5221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Cable Manager</a:t>
            </a:r>
          </a:p>
        </p:txBody>
      </p:sp>
      <p:sp>
        <p:nvSpPr>
          <p:cNvPr id="32" name="Rounded Rectangle 60">
            <a:extLst>
              <a:ext uri="{FF2B5EF4-FFF2-40B4-BE49-F238E27FC236}">
                <a16:creationId xmlns:a16="http://schemas.microsoft.com/office/drawing/2014/main" id="{3B3E65B5-8E75-47F1-8834-B2798041B16E}"/>
              </a:ext>
            </a:extLst>
          </p:cNvPr>
          <p:cNvSpPr/>
          <p:nvPr/>
        </p:nvSpPr>
        <p:spPr>
          <a:xfrm>
            <a:off x="3286903" y="4337863"/>
            <a:ext cx="1143139" cy="5221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Equipment Manager</a:t>
            </a:r>
          </a:p>
        </p:txBody>
      </p:sp>
      <p:sp>
        <p:nvSpPr>
          <p:cNvPr id="33" name="Rounded Rectangle 60">
            <a:extLst>
              <a:ext uri="{FF2B5EF4-FFF2-40B4-BE49-F238E27FC236}">
                <a16:creationId xmlns:a16="http://schemas.microsoft.com/office/drawing/2014/main" id="{60389F53-907E-4381-8A77-70942043FF5F}"/>
              </a:ext>
            </a:extLst>
          </p:cNvPr>
          <p:cNvSpPr/>
          <p:nvPr/>
        </p:nvSpPr>
        <p:spPr>
          <a:xfrm>
            <a:off x="4008614" y="4451700"/>
            <a:ext cx="1143139" cy="5221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C</a:t>
            </a:r>
            <a:r>
              <a:rPr lang="en-GB" sz="1400">
                <a:solidFill>
                  <a:schemeClr val="tx2"/>
                </a:solidFill>
              </a:rPr>
              <a:t>onduit Manager</a:t>
            </a:r>
          </a:p>
        </p:txBody>
      </p:sp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50FAFE0A-4BCF-4882-BC21-77E8C10BAAE8}"/>
              </a:ext>
            </a:extLst>
          </p:cNvPr>
          <p:cNvSpPr/>
          <p:nvPr/>
        </p:nvSpPr>
        <p:spPr>
          <a:xfrm>
            <a:off x="1528294" y="2454356"/>
            <a:ext cx="2051590" cy="1099781"/>
          </a:xfrm>
          <a:prstGeom prst="roundRect">
            <a:avLst>
              <a:gd name="adj" fmla="val 14454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F8DB9A-D3FE-401F-8001-AA06DAFAF582}"/>
              </a:ext>
            </a:extLst>
          </p:cNvPr>
          <p:cNvSpPr/>
          <p:nvPr/>
        </p:nvSpPr>
        <p:spPr>
          <a:xfrm>
            <a:off x="3124433" y="3801829"/>
            <a:ext cx="1234825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015425-3AA5-426B-AA42-DE762F230D02}"/>
              </a:ext>
            </a:extLst>
          </p:cNvPr>
          <p:cNvSpPr/>
          <p:nvPr/>
        </p:nvSpPr>
        <p:spPr>
          <a:xfrm>
            <a:off x="1951065" y="2426051"/>
            <a:ext cx="1234825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Models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897203-A508-4639-95E7-7C8B23660529}"/>
              </a:ext>
            </a:extLst>
          </p:cNvPr>
          <p:cNvSpPr/>
          <p:nvPr/>
        </p:nvSpPr>
        <p:spPr>
          <a:xfrm>
            <a:off x="6087204" y="1220349"/>
            <a:ext cx="1234825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Modes</a:t>
            </a:r>
          </a:p>
        </p:txBody>
      </p:sp>
      <p:sp>
        <p:nvSpPr>
          <p:cNvPr id="42" name="Rounded Rectangle 3">
            <a:extLst>
              <a:ext uri="{FF2B5EF4-FFF2-40B4-BE49-F238E27FC236}">
                <a16:creationId xmlns:a16="http://schemas.microsoft.com/office/drawing/2014/main" id="{A885732F-AFE0-487F-AEA7-4A9C3E56580E}"/>
              </a:ext>
            </a:extLst>
          </p:cNvPr>
          <p:cNvSpPr/>
          <p:nvPr/>
        </p:nvSpPr>
        <p:spPr>
          <a:xfrm>
            <a:off x="1528294" y="1211273"/>
            <a:ext cx="2051590" cy="1099781"/>
          </a:xfrm>
          <a:prstGeom prst="roundRect">
            <a:avLst>
              <a:gd name="adj" fmla="val 14454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FE065E-A31B-4CB8-9EBD-FD3B7B1D3D57}"/>
              </a:ext>
            </a:extLst>
          </p:cNvPr>
          <p:cNvSpPr/>
          <p:nvPr/>
        </p:nvSpPr>
        <p:spPr>
          <a:xfrm>
            <a:off x="1942794" y="1196752"/>
            <a:ext cx="1234825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Editors</a:t>
            </a:r>
          </a:p>
        </p:txBody>
      </p:sp>
      <p:sp>
        <p:nvSpPr>
          <p:cNvPr id="45" name="Rounded Rectangle 3">
            <a:extLst>
              <a:ext uri="{FF2B5EF4-FFF2-40B4-BE49-F238E27FC236}">
                <a16:creationId xmlns:a16="http://schemas.microsoft.com/office/drawing/2014/main" id="{EEAD48BD-8333-4AB4-A09E-A0434FA910D6}"/>
              </a:ext>
            </a:extLst>
          </p:cNvPr>
          <p:cNvSpPr/>
          <p:nvPr/>
        </p:nvSpPr>
        <p:spPr>
          <a:xfrm>
            <a:off x="3767919" y="1220349"/>
            <a:ext cx="1820430" cy="2333788"/>
          </a:xfrm>
          <a:prstGeom prst="roundRect">
            <a:avLst>
              <a:gd name="adj" fmla="val 9645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39C2C7-B7EB-4EE0-944C-07EC1CCACA0F}"/>
              </a:ext>
            </a:extLst>
          </p:cNvPr>
          <p:cNvSpPr/>
          <p:nvPr/>
        </p:nvSpPr>
        <p:spPr>
          <a:xfrm>
            <a:off x="4074622" y="1308586"/>
            <a:ext cx="1234825" cy="33432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Connectivity GUI</a:t>
            </a: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48" name="Rounded Rectangle 60">
            <a:extLst>
              <a:ext uri="{FF2B5EF4-FFF2-40B4-BE49-F238E27FC236}">
                <a16:creationId xmlns:a16="http://schemas.microsoft.com/office/drawing/2014/main" id="{516ED9BB-3BDB-4B2F-B8D6-736153846DE3}"/>
              </a:ext>
            </a:extLst>
          </p:cNvPr>
          <p:cNvSpPr/>
          <p:nvPr/>
        </p:nvSpPr>
        <p:spPr>
          <a:xfrm>
            <a:off x="3913793" y="1791804"/>
            <a:ext cx="1234825" cy="59346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Equipment Tree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49" name="Rounded Rectangle 60">
            <a:extLst>
              <a:ext uri="{FF2B5EF4-FFF2-40B4-BE49-F238E27FC236}">
                <a16:creationId xmlns:a16="http://schemas.microsoft.com/office/drawing/2014/main" id="{A593DC7B-0DE0-449C-9C8E-9262E4F61693}"/>
              </a:ext>
            </a:extLst>
          </p:cNvPr>
          <p:cNvSpPr/>
          <p:nvPr/>
        </p:nvSpPr>
        <p:spPr>
          <a:xfrm>
            <a:off x="4082561" y="1912902"/>
            <a:ext cx="1234825" cy="59346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Equipment Tree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50" name="Rounded Rectangle 60">
            <a:extLst>
              <a:ext uri="{FF2B5EF4-FFF2-40B4-BE49-F238E27FC236}">
                <a16:creationId xmlns:a16="http://schemas.microsoft.com/office/drawing/2014/main" id="{8D556921-E3B2-41CC-9513-E6DFBCBCF4BB}"/>
              </a:ext>
            </a:extLst>
          </p:cNvPr>
          <p:cNvSpPr/>
          <p:nvPr/>
        </p:nvSpPr>
        <p:spPr>
          <a:xfrm>
            <a:off x="4277079" y="2048521"/>
            <a:ext cx="1234825" cy="59346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Equipment Tree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51" name="Rounded Rectangle 60">
            <a:extLst>
              <a:ext uri="{FF2B5EF4-FFF2-40B4-BE49-F238E27FC236}">
                <a16:creationId xmlns:a16="http://schemas.microsoft.com/office/drawing/2014/main" id="{5E049D01-D9C7-49C9-B018-2322AD33941F}"/>
              </a:ext>
            </a:extLst>
          </p:cNvPr>
          <p:cNvSpPr/>
          <p:nvPr/>
        </p:nvSpPr>
        <p:spPr>
          <a:xfrm>
            <a:off x="4034090" y="2776354"/>
            <a:ext cx="1164001" cy="50243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Cable Connection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52" name="Rounded Rectangle 60">
            <a:extLst>
              <a:ext uri="{FF2B5EF4-FFF2-40B4-BE49-F238E27FC236}">
                <a16:creationId xmlns:a16="http://schemas.microsoft.com/office/drawing/2014/main" id="{8908879C-DC06-4CE6-B79F-2AB48C8162BD}"/>
              </a:ext>
            </a:extLst>
          </p:cNvPr>
          <p:cNvSpPr/>
          <p:nvPr/>
        </p:nvSpPr>
        <p:spPr>
          <a:xfrm>
            <a:off x="4168345" y="2888364"/>
            <a:ext cx="1164001" cy="50243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Connection Tree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53" name="Rounded Rectangle 61">
            <a:extLst>
              <a:ext uri="{FF2B5EF4-FFF2-40B4-BE49-F238E27FC236}">
                <a16:creationId xmlns:a16="http://schemas.microsoft.com/office/drawing/2014/main" id="{C607F3CA-E3B0-4389-889E-418DC88DB968}"/>
              </a:ext>
            </a:extLst>
          </p:cNvPr>
          <p:cNvSpPr/>
          <p:nvPr/>
        </p:nvSpPr>
        <p:spPr>
          <a:xfrm>
            <a:off x="2078264" y="2883037"/>
            <a:ext cx="900153" cy="4178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Cable</a:t>
            </a:r>
          </a:p>
        </p:txBody>
      </p:sp>
      <p:sp>
        <p:nvSpPr>
          <p:cNvPr id="54" name="Rounded Rectangle 61">
            <a:extLst>
              <a:ext uri="{FF2B5EF4-FFF2-40B4-BE49-F238E27FC236}">
                <a16:creationId xmlns:a16="http://schemas.microsoft.com/office/drawing/2014/main" id="{5B3B7344-EAEC-4D64-A46E-F6DCB1BE8A9A}"/>
              </a:ext>
            </a:extLst>
          </p:cNvPr>
          <p:cNvSpPr/>
          <p:nvPr/>
        </p:nvSpPr>
        <p:spPr>
          <a:xfrm>
            <a:off x="2255060" y="2997954"/>
            <a:ext cx="900153" cy="4178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Cable</a:t>
            </a:r>
          </a:p>
        </p:txBody>
      </p:sp>
      <p:sp>
        <p:nvSpPr>
          <p:cNvPr id="55" name="Rounded Rectangle 61">
            <a:extLst>
              <a:ext uri="{FF2B5EF4-FFF2-40B4-BE49-F238E27FC236}">
                <a16:creationId xmlns:a16="http://schemas.microsoft.com/office/drawing/2014/main" id="{17AC27E1-7FF6-49F3-B5C4-015F0C7D8D94}"/>
              </a:ext>
            </a:extLst>
          </p:cNvPr>
          <p:cNvSpPr/>
          <p:nvPr/>
        </p:nvSpPr>
        <p:spPr>
          <a:xfrm>
            <a:off x="2068070" y="1668339"/>
            <a:ext cx="900153" cy="41783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Cable</a:t>
            </a:r>
          </a:p>
        </p:txBody>
      </p:sp>
      <p:sp>
        <p:nvSpPr>
          <p:cNvPr id="56" name="Rounded Rectangle 61">
            <a:extLst>
              <a:ext uri="{FF2B5EF4-FFF2-40B4-BE49-F238E27FC236}">
                <a16:creationId xmlns:a16="http://schemas.microsoft.com/office/drawing/2014/main" id="{89EA056C-2D18-47CB-A910-18BFD13B1A09}"/>
              </a:ext>
            </a:extLst>
          </p:cNvPr>
          <p:cNvSpPr/>
          <p:nvPr/>
        </p:nvSpPr>
        <p:spPr>
          <a:xfrm>
            <a:off x="2244866" y="1783256"/>
            <a:ext cx="900153" cy="41783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Cable Editor</a:t>
            </a:r>
          </a:p>
        </p:txBody>
      </p:sp>
      <p:sp>
        <p:nvSpPr>
          <p:cNvPr id="36" name="Rounded Rectangle 60">
            <a:extLst>
              <a:ext uri="{FF2B5EF4-FFF2-40B4-BE49-F238E27FC236}">
                <a16:creationId xmlns:a16="http://schemas.microsoft.com/office/drawing/2014/main" id="{4D3E4570-F20E-4854-A962-AFD4EFC3F992}"/>
              </a:ext>
            </a:extLst>
          </p:cNvPr>
          <p:cNvSpPr/>
          <p:nvPr/>
        </p:nvSpPr>
        <p:spPr>
          <a:xfrm>
            <a:off x="6190787" y="3067517"/>
            <a:ext cx="1152128" cy="7715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Structure</a:t>
            </a:r>
            <a:br>
              <a:rPr lang="en-GB" sz="1400">
                <a:solidFill>
                  <a:schemeClr val="tx2"/>
                </a:solidFill>
              </a:rPr>
            </a:br>
            <a:r>
              <a:rPr lang="en-GB" sz="1400">
                <a:solidFill>
                  <a:schemeClr val="tx2"/>
                </a:solidFill>
              </a:rPr>
              <a:t>Mode Plugin</a:t>
            </a:r>
          </a:p>
        </p:txBody>
      </p:sp>
      <p:sp>
        <p:nvSpPr>
          <p:cNvPr id="38" name="Rounded Rectangle 60">
            <a:extLst>
              <a:ext uri="{FF2B5EF4-FFF2-40B4-BE49-F238E27FC236}">
                <a16:creationId xmlns:a16="http://schemas.microsoft.com/office/drawing/2014/main" id="{2DB5C4DB-8CC3-402A-9F90-C407A16F1C60}"/>
              </a:ext>
            </a:extLst>
          </p:cNvPr>
          <p:cNvSpPr/>
          <p:nvPr/>
        </p:nvSpPr>
        <p:spPr>
          <a:xfrm>
            <a:off x="6343187" y="3206724"/>
            <a:ext cx="1152128" cy="7715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Structure</a:t>
            </a:r>
            <a:br>
              <a:rPr lang="en-GB" sz="1400">
                <a:solidFill>
                  <a:schemeClr val="tx2"/>
                </a:solidFill>
              </a:rPr>
            </a:br>
            <a:r>
              <a:rPr lang="en-GB" sz="1400">
                <a:solidFill>
                  <a:schemeClr val="tx2"/>
                </a:solidFill>
              </a:rPr>
              <a:t>Mode Plugin</a:t>
            </a:r>
          </a:p>
        </p:txBody>
      </p:sp>
      <p:sp>
        <p:nvSpPr>
          <p:cNvPr id="41" name="Rounded Rectangle 61">
            <a:extLst>
              <a:ext uri="{FF2B5EF4-FFF2-40B4-BE49-F238E27FC236}">
                <a16:creationId xmlns:a16="http://schemas.microsoft.com/office/drawing/2014/main" id="{5908DA13-152B-4CF6-8DF3-546EFA776217}"/>
              </a:ext>
            </a:extLst>
          </p:cNvPr>
          <p:cNvSpPr/>
          <p:nvPr/>
        </p:nvSpPr>
        <p:spPr>
          <a:xfrm>
            <a:off x="6167964" y="4583039"/>
            <a:ext cx="1152128" cy="63870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Structure</a:t>
            </a:r>
            <a:br>
              <a:rPr lang="en-GB" sz="1400">
                <a:solidFill>
                  <a:schemeClr val="tx2"/>
                </a:solidFill>
              </a:rPr>
            </a:br>
            <a:r>
              <a:rPr lang="en-GB" sz="1400">
                <a:solidFill>
                  <a:schemeClr val="tx2"/>
                </a:solidFill>
              </a:rPr>
              <a:t>Palette </a:t>
            </a:r>
          </a:p>
        </p:txBody>
      </p:sp>
      <p:sp>
        <p:nvSpPr>
          <p:cNvPr id="44" name="Rounded Rectangle 61">
            <a:extLst>
              <a:ext uri="{FF2B5EF4-FFF2-40B4-BE49-F238E27FC236}">
                <a16:creationId xmlns:a16="http://schemas.microsoft.com/office/drawing/2014/main" id="{C0411EAA-3B5C-4EB2-99B6-7F9FD326A2A6}"/>
              </a:ext>
            </a:extLst>
          </p:cNvPr>
          <p:cNvSpPr/>
          <p:nvPr/>
        </p:nvSpPr>
        <p:spPr>
          <a:xfrm>
            <a:off x="6359484" y="4723535"/>
            <a:ext cx="1152128" cy="63870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Structure</a:t>
            </a:r>
            <a:br>
              <a:rPr lang="en-GB" sz="1400">
                <a:solidFill>
                  <a:schemeClr val="tx2"/>
                </a:solidFill>
              </a:rPr>
            </a:br>
            <a:r>
              <a:rPr lang="en-GB" sz="1400">
                <a:solidFill>
                  <a:schemeClr val="tx2"/>
                </a:solidFill>
              </a:rPr>
              <a:t>Palette </a:t>
            </a:r>
          </a:p>
        </p:txBody>
      </p:sp>
      <p:sp>
        <p:nvSpPr>
          <p:cNvPr id="47" name="Rounded Rectangle 60">
            <a:extLst>
              <a:ext uri="{FF2B5EF4-FFF2-40B4-BE49-F238E27FC236}">
                <a16:creationId xmlns:a16="http://schemas.microsoft.com/office/drawing/2014/main" id="{6C36BC42-1318-493A-9F31-D7D1F80A35EC}"/>
              </a:ext>
            </a:extLst>
          </p:cNvPr>
          <p:cNvSpPr/>
          <p:nvPr/>
        </p:nvSpPr>
        <p:spPr>
          <a:xfrm>
            <a:off x="6190787" y="1912901"/>
            <a:ext cx="1152128" cy="58505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State Manager</a:t>
            </a:r>
          </a:p>
        </p:txBody>
      </p:sp>
      <p:sp>
        <p:nvSpPr>
          <p:cNvPr id="57" name="Rounded Rectangle 60">
            <a:extLst>
              <a:ext uri="{FF2B5EF4-FFF2-40B4-BE49-F238E27FC236}">
                <a16:creationId xmlns:a16="http://schemas.microsoft.com/office/drawing/2014/main" id="{DA7C16BA-9327-4BDA-91D0-5CEDC5D5C561}"/>
              </a:ext>
            </a:extLst>
          </p:cNvPr>
          <p:cNvSpPr/>
          <p:nvPr/>
        </p:nvSpPr>
        <p:spPr>
          <a:xfrm>
            <a:off x="3176116" y="6240757"/>
            <a:ext cx="748050" cy="28098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58" name="Rounded Rectangle 61">
            <a:extLst>
              <a:ext uri="{FF2B5EF4-FFF2-40B4-BE49-F238E27FC236}">
                <a16:creationId xmlns:a16="http://schemas.microsoft.com/office/drawing/2014/main" id="{4ECB1CEF-CDC8-44B5-A6A5-CB7024CDF8DD}"/>
              </a:ext>
            </a:extLst>
          </p:cNvPr>
          <p:cNvSpPr/>
          <p:nvPr/>
        </p:nvSpPr>
        <p:spPr>
          <a:xfrm>
            <a:off x="5094743" y="6229873"/>
            <a:ext cx="748050" cy="29186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1BB14AD-733C-4B38-97BD-7EBCA7B299AF}"/>
              </a:ext>
            </a:extLst>
          </p:cNvPr>
          <p:cNvSpPr/>
          <p:nvPr/>
        </p:nvSpPr>
        <p:spPr>
          <a:xfrm>
            <a:off x="3820303" y="6250292"/>
            <a:ext cx="830695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Engine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D07F64-C9B3-4973-9795-F931B8B0966A}"/>
              </a:ext>
            </a:extLst>
          </p:cNvPr>
          <p:cNvSpPr/>
          <p:nvPr/>
        </p:nvSpPr>
        <p:spPr>
          <a:xfrm>
            <a:off x="5671856" y="6248764"/>
            <a:ext cx="830695" cy="26394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GUI</a:t>
            </a:r>
            <a:endParaRPr lang="en-GB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65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0" grpId="0"/>
      <p:bldP spid="43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20">
            <a:extLst>
              <a:ext uri="{FF2B5EF4-FFF2-40B4-BE49-F238E27FC236}">
                <a16:creationId xmlns:a16="http://schemas.microsoft.com/office/drawing/2014/main" id="{04A9DE06-CF4F-49A8-BF19-F1F7176A4F42}"/>
              </a:ext>
            </a:extLst>
          </p:cNvPr>
          <p:cNvSpPr/>
          <p:nvPr/>
        </p:nvSpPr>
        <p:spPr>
          <a:xfrm>
            <a:off x="1039652" y="1356735"/>
            <a:ext cx="7091745" cy="1437771"/>
          </a:xfrm>
          <a:prstGeom prst="roundRect">
            <a:avLst>
              <a:gd name="adj" fmla="val 8956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ounded Rectangle 20"/>
          <p:cNvSpPr/>
          <p:nvPr/>
        </p:nvSpPr>
        <p:spPr>
          <a:xfrm>
            <a:off x="1039652" y="3069014"/>
            <a:ext cx="7091745" cy="2808258"/>
          </a:xfrm>
          <a:prstGeom prst="roundRect">
            <a:avLst>
              <a:gd name="adj" fmla="val 8956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8. Server-side Architecture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91680" y="3809137"/>
            <a:ext cx="1296144" cy="6561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Route Network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09070" y="3809137"/>
            <a:ext cx="1296144" cy="6561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Fibre Network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11960" y="4781081"/>
            <a:ext cx="1088574" cy="51975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ConnSet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1481" y="5141495"/>
            <a:ext cx="1088574" cy="51975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Conn</a:t>
            </a:r>
          </a:p>
        </p:txBody>
      </p:sp>
      <p:sp>
        <p:nvSpPr>
          <p:cNvPr id="29" name="Rounded Rectangle 58">
            <a:extLst>
              <a:ext uri="{FF2B5EF4-FFF2-40B4-BE49-F238E27FC236}">
                <a16:creationId xmlns:a16="http://schemas.microsoft.com/office/drawing/2014/main" id="{02334AD2-F9EE-4F61-ABE3-09CBBCB3E834}"/>
              </a:ext>
            </a:extLst>
          </p:cNvPr>
          <p:cNvSpPr/>
          <p:nvPr/>
        </p:nvSpPr>
        <p:spPr>
          <a:xfrm>
            <a:off x="4947134" y="1889964"/>
            <a:ext cx="1296144" cy="6561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Cable Controller</a:t>
            </a:r>
          </a:p>
        </p:txBody>
      </p:sp>
      <p:sp>
        <p:nvSpPr>
          <p:cNvPr id="30" name="Rounded Rectangle 58">
            <a:extLst>
              <a:ext uri="{FF2B5EF4-FFF2-40B4-BE49-F238E27FC236}">
                <a16:creationId xmlns:a16="http://schemas.microsoft.com/office/drawing/2014/main" id="{8AF4AE80-0CF8-4178-A847-71358F035D9E}"/>
              </a:ext>
            </a:extLst>
          </p:cNvPr>
          <p:cNvSpPr/>
          <p:nvPr/>
        </p:nvSpPr>
        <p:spPr>
          <a:xfrm>
            <a:off x="4947134" y="3804629"/>
            <a:ext cx="1296144" cy="6561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Cable Manager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6093AF-EAAC-4DFA-BA78-98FDBCCBF9B6}"/>
              </a:ext>
            </a:extLst>
          </p:cNvPr>
          <p:cNvSpPr/>
          <p:nvPr/>
        </p:nvSpPr>
        <p:spPr>
          <a:xfrm>
            <a:off x="3437992" y="1308685"/>
            <a:ext cx="2030497" cy="41483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Controllers</a:t>
            </a: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9" name="Rounded Rectangle 58">
            <a:extLst>
              <a:ext uri="{FF2B5EF4-FFF2-40B4-BE49-F238E27FC236}">
                <a16:creationId xmlns:a16="http://schemas.microsoft.com/office/drawing/2014/main" id="{019FBCB0-B70A-4CF3-8D0D-6CA99A7B7991}"/>
              </a:ext>
            </a:extLst>
          </p:cNvPr>
          <p:cNvSpPr/>
          <p:nvPr/>
        </p:nvSpPr>
        <p:spPr>
          <a:xfrm>
            <a:off x="6564524" y="3804629"/>
            <a:ext cx="1296144" cy="6561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Data Validator</a:t>
            </a:r>
          </a:p>
        </p:txBody>
      </p:sp>
      <p:sp>
        <p:nvSpPr>
          <p:cNvPr id="20" name="Rounded Rectangle 58">
            <a:extLst>
              <a:ext uri="{FF2B5EF4-FFF2-40B4-BE49-F238E27FC236}">
                <a16:creationId xmlns:a16="http://schemas.microsoft.com/office/drawing/2014/main" id="{637C2F61-BBAB-45A1-8B39-8452E71AB95D}"/>
              </a:ext>
            </a:extLst>
          </p:cNvPr>
          <p:cNvSpPr/>
          <p:nvPr/>
        </p:nvSpPr>
        <p:spPr>
          <a:xfrm>
            <a:off x="3309070" y="1836415"/>
            <a:ext cx="1296144" cy="6561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>
                <a:solidFill>
                  <a:schemeClr val="accent6">
                    <a:lumMod val="50000"/>
                  </a:schemeClr>
                </a:solidFill>
              </a:rPr>
              <a:t>Network Controller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D9235F-22A6-4E96-BD07-5DB6E0454BCD}"/>
              </a:ext>
            </a:extLst>
          </p:cNvPr>
          <p:cNvSpPr/>
          <p:nvPr/>
        </p:nvSpPr>
        <p:spPr>
          <a:xfrm>
            <a:off x="3437992" y="3069363"/>
            <a:ext cx="2030497" cy="41483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Networks</a:t>
            </a:r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7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accent1"/>
          </a:solidFill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A1168C766DE4AB8A9C6966818B743" ma:contentTypeVersion="0" ma:contentTypeDescription="Create a new document." ma:contentTypeScope="" ma:versionID="2a532109909ac01af3cf0708787b65ac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BC000B8D-7945-4C94-AC02-F0C0FEE297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F9DB3E7E-3FC9-41B7-A369-5042808A74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99BEDB-D6ED-4A9C-AE8C-E94CCA4E5125}">
  <ds:schemaRefs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On-screen Show (4:3)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1. Containment Model</vt:lpstr>
      <vt:lpstr>2. Conduit Model</vt:lpstr>
      <vt:lpstr>3. Slack Loop Model</vt:lpstr>
      <vt:lpstr>4. Connectivity Model</vt:lpstr>
      <vt:lpstr>5. Connectivity Model (Splice)</vt:lpstr>
      <vt:lpstr>6. Connectivity Model (API)</vt:lpstr>
      <vt:lpstr>7. Circuit Model</vt:lpstr>
      <vt:lpstr>7. Client Architecture</vt:lpstr>
      <vt:lpstr>8. Server-side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Aston Martin Car Plant Gaydon, UK (Process Tracking in Finishing)</dc:title>
  <dc:creator>Jon Heathcote</dc:creator>
  <cp:lastModifiedBy>trmayo103@gmail.com</cp:lastModifiedBy>
  <cp:revision>1857</cp:revision>
  <cp:lastPrinted>2011-08-18T10:46:05Z</cp:lastPrinted>
  <dcterms:created xsi:type="dcterms:W3CDTF">2011-08-04T14:26:14Z</dcterms:created>
  <dcterms:modified xsi:type="dcterms:W3CDTF">2021-03-09T14:21:46Z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0x010100A84A1168C766DE4AB8A9C6966818B743</vt:lpwstr>
  </property>
</Properties>
</file>